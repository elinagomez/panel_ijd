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gif" ContentType="image/gif"/>
  <Default Extension="png" ContentType="image/png"/>
  <Default Extension="svg" ContentType="image/svg+xml"/>
  <Default Extension="bmp" ContentType="image/bmp"/>
  <Default Extension="emf" ContentType="image/x-emf"/>
  <Default Extension="wmf" ContentType="image/x-wmf"/>
  <Default Extension="tiff" ContentType="image/tiff"/>
  <Default Extension="jpg" ContentType="application/octet-stream"/>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printerSettings" Target="printerSettings/printerSettings1.bin"/>
<Relationship Id="rId3" Type="http://schemas.openxmlformats.org/officeDocument/2006/relationships/presProps" Target="presProps.xml"/>
<Relationship Id="rId4" Type="http://schemas.openxmlformats.org/officeDocument/2006/relationships/viewProps" Target="viewProps.xml"/>
<Relationship Id="rId5" Type="http://schemas.openxmlformats.org/officeDocument/2006/relationships/theme" Target="theme/theme1.xml"/>
<Relationship Id="rId6" Type="http://schemas.openxmlformats.org/officeDocument/2006/relationships/tableStyles" Target="tableStyles.xml"/>
<Relationship Id="rId7" Type="http://schemas.openxmlformats.org/officeDocument/2006/relationships/slide" Target="slides/slide1.xml"/>
<Relationship Id="rId8" Type="http://schemas.openxmlformats.org/officeDocument/2006/relationships/slide" Target="slides/slide2.xml"/>
<Relationship Id="rId9" Type="http://schemas.openxmlformats.org/officeDocument/2006/relationships/slide" Target="slides/slide3.xml"/>
<Relationship Id="rId10" Type="http://schemas.openxmlformats.org/officeDocument/2006/relationships/slide" Target="slides/slide4.xml"/>
<Relationship Id="rId11" Type="http://schemas.openxmlformats.org/officeDocument/2006/relationships/slide" Target="slides/slide5.xml"/>
<Relationship Id="rId12" Type="http://schemas.openxmlformats.org/officeDocument/2006/relationships/slide" Target="slides/slide6.xml"/>
<Relationship Id="rId13" Type="http://schemas.openxmlformats.org/officeDocument/2006/relationships/slide" Target="slides/slide7.xml"/>
<Relationship Id="rId14" Type="http://schemas.openxmlformats.org/officeDocument/2006/relationships/slide" Target="slides/slide8.xml"/>
<Relationship Id="rId15" Type="http://schemas.openxmlformats.org/officeDocument/2006/relationships/slide" Target="slides/slide9.xml"/>
<Relationship Id="rId16" Type="http://schemas.openxmlformats.org/officeDocument/2006/relationships/slide" Target="slides/slide10.xml"/>
<Relationship Id="rId17" Type="http://schemas.openxmlformats.org/officeDocument/2006/relationships/slide" Target="slides/slide11.xml"/>
<Relationship Id="rId18" Type="http://schemas.openxmlformats.org/officeDocument/2006/relationships/slide" Target="slides/slide12.xml"/>
<Relationship Id="rId19" Type="http://schemas.openxmlformats.org/officeDocument/2006/relationships/slide" Target="slides/slide13.xml"/>
<Relationship Id="rId20" Type="http://schemas.openxmlformats.org/officeDocument/2006/relationships/slide" Target="slides/slide14.xml"/>
<Relationship Id="rId21" Type="http://schemas.openxmlformats.org/officeDocument/2006/relationships/slide" Target="slides/slide15.xml"/>
<Relationship Id="rId22" Type="http://schemas.openxmlformats.org/officeDocument/2006/relationships/slide" Target="slides/slide16.xml"/>
<Relationship Id="rId23" Type="http://schemas.openxmlformats.org/officeDocument/2006/relationships/slide" Target="slides/slide17.xml"/>
<Relationship Id="rId24" Type="http://schemas.openxmlformats.org/officeDocument/2006/relationships/slide" Target="slides/slide18.xml"/>
<Relationship Id="rId25" Type="http://schemas.openxmlformats.org/officeDocument/2006/relationships/slide" Target="slides/slide19.xml"/>
<Relationship Id="rId26" Type="http://schemas.openxmlformats.org/officeDocument/2006/relationships/slide" Target="slides/slide20.xml"/>
<Relationship Id="rId27" Type="http://schemas.openxmlformats.org/officeDocument/2006/relationships/slide" Target="slides/slide21.xml"/>
<Relationship Id="rId28" Type="http://schemas.openxmlformats.org/officeDocument/2006/relationships/slide" Target="slides/slide22.xml"/>
<Relationship Id="rId29" Type="http://schemas.openxmlformats.org/officeDocument/2006/relationships/slide" Target="slides/slide23.xml"/>
<Relationship Id="rId30" Type="http://schemas.openxmlformats.org/officeDocument/2006/relationships/slide" Target="slides/slide24.xml"/>
<Relationship Id="rId31" Type="http://schemas.openxmlformats.org/officeDocument/2006/relationships/slide" Target="slides/slide25.xml"/>
<Relationship Id="rId32" Type="http://schemas.openxmlformats.org/officeDocument/2006/relationships/slide" Target="slides/slide26.xml"/>
<Relationship Id="rId33" Type="http://schemas.openxmlformats.org/officeDocument/2006/relationships/slide" Target="slides/slide27.xml"/>
<Relationship Id="rId34" Type="http://schemas.openxmlformats.org/officeDocument/2006/relationships/slide" Target="slides/slide28.xml"/>
<Relationship Id="rId35" Type="http://schemas.openxmlformats.org/officeDocument/2006/relationships/slide" Target="slides/slide29.xml"/>
<Relationship Id="rId36" Type="http://schemas.openxmlformats.org/officeDocument/2006/relationships/slide" Target="slides/slide30.xml"/>
<Relationship Id="rId37" Type="http://schemas.openxmlformats.org/officeDocument/2006/relationships/slide" Target="slides/slide31.xml"/>
<Relationship Id="rId38" Type="http://schemas.openxmlformats.org/officeDocument/2006/relationships/slide" Target="slides/slide32.xml"/>
<Relationship Id="rId39" Type="http://schemas.openxmlformats.org/officeDocument/2006/relationships/slide" Target="slides/slide33.xml"/>
<Relationship Id="rId40" Type="http://schemas.openxmlformats.org/officeDocument/2006/relationships/slide" Target="slides/slide34.xml"/>
<Relationship Id="rId41" Type="http://schemas.openxmlformats.org/officeDocument/2006/relationships/slide" Target="slides/slide35.xml"/>
<Relationship Id="rId42" Type="http://schemas.openxmlformats.org/officeDocument/2006/relationships/slide" Target="slides/slide36.xml"/>
<Relationship Id="rId43" Type="http://schemas.openxmlformats.org/officeDocument/2006/relationships/slide" Target="slides/slide37.xml"/>
<Relationship Id="rId44" Type="http://schemas.openxmlformats.org/officeDocument/2006/relationships/slide" Target="slides/slide38.xml"/>
<Relationship Id="rId45" Type="http://schemas.openxmlformats.org/officeDocument/2006/relationships/slide" Target="slides/slide39.xml"/>
<Relationship Id="rId46" Type="http://schemas.openxmlformats.org/officeDocument/2006/relationships/slide" Target="slides/slide40.xml"/>
<Relationship Id="rId47" Type="http://schemas.openxmlformats.org/officeDocument/2006/relationships/slide" Target="slides/slide41.xml"/>
<Relationship Id="rId48" Type="http://schemas.openxmlformats.org/officeDocument/2006/relationships/slide" Target="slides/slide42.xml"/>
<Relationship Id="rId49" Type="http://schemas.openxmlformats.org/officeDocument/2006/relationships/slide" Target="slides/slide43.xml"/>
<Relationship Id="rId50" Type="http://schemas.openxmlformats.org/officeDocument/2006/relationships/slide" Target="slides/slide44.xml"/>
<Relationship Id="rId51" Type="http://schemas.openxmlformats.org/officeDocument/2006/relationships/slide" Target="slides/slide45.xml"/>
<Relationship Id="rId52" Type="http://schemas.openxmlformats.org/officeDocument/2006/relationships/slide" Target="slides/slide46.xml"/>
<Relationship Id="rId53" Type="http://schemas.openxmlformats.org/officeDocument/2006/relationships/slide" Target="slides/slide47.xml"/>
<Relationship Id="rId54" Type="http://schemas.openxmlformats.org/officeDocument/2006/relationships/slide" Target="slides/slide48.xml"/>
<Relationship Id="rId55" Type="http://schemas.openxmlformats.org/officeDocument/2006/relationships/slide" Target="slides/slide49.xml"/>
<Relationship Id="rId56" Type="http://schemas.openxmlformats.org/officeDocument/2006/relationships/slide" Target="slides/slide50.xml"/>
<Relationship Id="rId57" Type="http://schemas.openxmlformats.org/officeDocument/2006/relationships/slide" Target="slides/slide51.xml"/>
<Relationship Id="rId58" Type="http://schemas.openxmlformats.org/officeDocument/2006/relationships/slide" Target="slides/slide52.xml"/>
<Relationship Id="rId59" Type="http://schemas.openxmlformats.org/officeDocument/2006/relationships/slide" Target="slides/slide53.xml"/>
<Relationship Id="rId60" Type="http://schemas.openxmlformats.org/officeDocument/2006/relationships/slide" Target="slides/slide54.xml"/>
<Relationship Id="rId61" Type="http://schemas.openxmlformats.org/officeDocument/2006/relationships/slide" Target="slides/slide55.xml"/>
<Relationship Id="rId62" Type="http://schemas.openxmlformats.org/officeDocument/2006/relationships/slide" Target="slides/slide56.xml"/>
<Relationship Id="rId63" Type="http://schemas.openxmlformats.org/officeDocument/2006/relationships/slide" Target="slides/slide57.xml"/>
<Relationship Id="rId64" Type="http://schemas.openxmlformats.org/officeDocument/2006/relationships/slide" Target="slides/slide58.xml"/>
<Relationship Id="rId65" Type="http://schemas.openxmlformats.org/officeDocument/2006/relationships/slide" Target="slides/slide59.xml"/>
<Relationship Id="rId66" Type="http://schemas.openxmlformats.org/officeDocument/2006/relationships/slide" Target="slides/slide60.xml"/>
<Relationship Id="rId67" Type="http://schemas.openxmlformats.org/officeDocument/2006/relationships/slide" Target="slides/slide61.xml"/>
<Relationship Id="rId68" Type="http://schemas.openxmlformats.org/officeDocument/2006/relationships/slide" Target="slides/slide62.xml"/>
<Relationship Id="rId69" Type="http://schemas.openxmlformats.org/officeDocument/2006/relationships/slide" Target="slides/slide63.xml"/>
<Relationship Id="rId70" Type="http://schemas.openxmlformats.org/officeDocument/2006/relationships/slide" Target="slides/slide64.xml"/>
<Relationship Id="rId71" Type="http://schemas.openxmlformats.org/officeDocument/2006/relationships/slide" Target="slides/slide65.xml"/>
<Relationship Id="rId72" Type="http://schemas.openxmlformats.org/officeDocument/2006/relationships/slide" Target="slides/slide66.xml"/>
<Relationship Id="rId73" Type="http://schemas.openxmlformats.org/officeDocument/2006/relationships/slide" Target="slides/slide67.xml"/>
<Relationship Id="rId74" Type="http://schemas.openxmlformats.org/officeDocument/2006/relationships/slide" Target="slides/slide68.xml"/>
<Relationship Id="rId75" Type="http://schemas.openxmlformats.org/officeDocument/2006/relationships/slide" Target="slides/slide69.xml"/>
<Relationship Id="rId76" Type="http://schemas.openxmlformats.org/officeDocument/2006/relationships/slide" Target="slides/slide70.xml"/>
<Relationship Id="rId77" Type="http://schemas.openxmlformats.org/officeDocument/2006/relationships/slide" Target="slides/slide71.xml"/>
<Relationship Id="rId78" Type="http://schemas.openxmlformats.org/officeDocument/2006/relationships/slide" Target="slides/slide72.xml"/>
<Relationship Id="rId79" Type="http://schemas.openxmlformats.org/officeDocument/2006/relationships/slide" Target="slides/slide73.xml"/>
<Relationship Id="rId80" Type="http://schemas.openxmlformats.org/officeDocument/2006/relationships/slide" Target="slides/slide74.xml"/>
<Relationship Id="rId81" Type="http://schemas.openxmlformats.org/officeDocument/2006/relationships/slide" Target="slides/slide75.xml"/>
<Relationship Id="rId82" Type="http://schemas.openxmlformats.org/officeDocument/2006/relationships/slide" Target="slides/slide76.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96ad9a1b246aad168aa41f6e65520b0a4a4f27a5.png"/>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5e73cbde84bff2cd7bbfb63c4c50aa95fcdcc6e0.png"/>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1d500043b62b5ff5e41b35c97439de550be6e10c.png"/>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732c5576b4a923564919715b6dc1a1b75b9f81a4.png"/>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8c7bfc68cf6370edfb99e9ba86135f9ce8ba14ac.png"/>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a922de919a49a102a10980402285a374dda23048.png"/>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6605efe0f675edf06ad1f5556e77540eaef69a0f.png"/>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47f200ee0d9bb19fbd3ec55ef503530add55a2bd.png"/>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f41f9dc4062b2529ce9b3da7c3c537e42480b60c.png"/>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5dcb1840561e9ecdd4b44f7ec7c03f0c89d98680.png"/>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f38df0e7d805bc68432a3296eb91247e74771e87.png"/>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a3ab4cf43a22fdc6c832cec8f5b1f5352aad973e.png"/>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d554cbedfffd54d225644efe0e861b6e4bf7f31c.png"/>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8a5b3418ef5ca66792f41f5d0ff11d75f427813f.png"/>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e3805b9a66ae2179f3584ae2a6fa9236bb5bc2c0.png"/>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1f2c42088eb451400b7bdede2d1a3fa6a7efc0c0.png"/>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1ae8beda0ed9d1e697c5fbcc121810a13066e479.png"/>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57a6caaee51f647e797968a18c80c046cfec6f28.png"/>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8f288a9a5653b5ccf6495d276462924a693d606c.png"/>
</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77a800f5cc4e664ec36ee7ed1c38cf1bc8f144cb.png"/>
</Relationships>

</file>

<file path=ppt/slides/_rels/slide3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7243023af901700f8a2c26307d53c812a793c797.png"/>
</Relationships>

</file>

<file path=ppt/slides/_rels/slide3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82d0d7b41cf5bb61ded140bf48a4e91725d22543.png"/>
</Relationships>

</file>

<file path=ppt/slides/_rels/slide4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ead49d80cba2586bf4ce38213600132bdb2293ac.png"/>
</Relationships>

</file>

<file path=ppt/slides/_rels/slide4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d381937334dc4f4f5126e9c4a0cf9df6939355b0.png"/>
</Relationships>

</file>

<file path=ppt/slides/_rels/slide4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da89a7873cee106e9f28e603398e75f88062d51e.png"/>
</Relationships>

</file>

<file path=ppt/slides/_rels/slide4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ca19f9c5b011e515f8f2576f3929fa8239c4c7db.png"/>
</Relationships>

</file>

<file path=ppt/slides/_rels/slide4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071bb9be537b82cabbc30b22af0d51d000b758e4.png"/>
</Relationships>

</file>

<file path=ppt/slides/_rels/slide4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6e2dbf8970e6d1a26f4620186156360638c20c05.png"/>
</Relationships>

</file>

<file path=ppt/slides/_rels/slide5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26661c99789f72b204408a4aee695ed98ecb380a.png"/>
</Relationships>

</file>

<file path=ppt/slides/_rels/slide5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ddbb2833bba83c30212ca35b24a9c6063a99ee5d.png"/>
</Relationships>

</file>

<file path=ppt/slides/_rels/slide5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a6f2b4cf4d04f2f6f6d92e320424815f8e59563f.png"/>
</Relationships>

</file>

<file path=ppt/slides/_rels/slide5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b9bad7285f6aec590eabd71c2b16cfd88b07388a.png"/>
</Relationships>

</file>

<file path=ppt/slides/_rels/slide6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5e185281b3b10075abdff2077ead2eef428eb7c8.png"/>
</Relationships>

</file>

<file path=ppt/slides/_rels/slide6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31bb7cb3fb03afe17a308c6c638575847868a234.png"/>
</Relationships>

</file>

<file path=ppt/slides/_rels/slide6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7e4c7a6d7ef48c85e322b1d6f841f4edd82ca188.png"/>
</Relationships>

</file>

<file path=ppt/slides/_rels/slide6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56e56479d798ab9cd9c3e2dc7fd2e82f0ade10a8.png"/>
</Relationships>

</file>

<file path=ppt/slides/_rels/slide7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aa53665d227d4a6eaa74218ebada3201fb37cfb1.png"/>
</Relationships>

</file>

<file path=ppt/slides/_rels/slide7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8d52dcfb9ed94a07d6f62bd766ca1bc85bb1801a.png"/>
</Relationships>

</file>

<file path=ppt/slides/_rels/slide7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2d3578fb0e0b572662e173deb29a314952a4d1ef.png"/>
</Relationships>

</file>

<file path=ppt/slides/_rels/slide7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7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7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7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 descr=""/>
          <p:cNvPicPr>
            <a:picLocks noGrp="1"/>
          </p:cNvPicPr>
          <p:nvPr>
            <p:ph/>
          </p:nvPr>
        </p:nvPicPr>
        <p:blipFill>
          <a:blip cstate="print" r:embed="rId2"/>
          <a:stretch>
            <a:fillRect/>
          </a:stretch>
        </p:blipFill>
        <p:spPr>
          <a:xfrm>
            <a:off x="548640" y="411480"/>
            <a:ext cx="3291840" cy="700533"/>
          </a:xfrm>
          <a:prstGeom prst="rect">
            <a:avLst/>
          </a:prstGeom>
        </p:spPr>
      </p:pic>
      <p:sp>
        <p:nvSpPr>
          <p:cNvPr id="3" name=""/>
          <p:cNvSpPr>
            <a:spLocks noGrp="1"/>
          </p:cNvSpPr>
          <p:nvPr>
            <p:ph/>
          </p:nvPr>
        </p:nvSpPr>
        <p:spPr>
          <a:xfrm>
            <a:off x="548640" y="2011680"/>
            <a:ext cx="8046720" cy="822960"/>
          </a:xfrm>
        </p:spPr>
        <p:txBody>
          <a:bodyPr/>
          <a:lstStyle/>
          <a:p>
            <a:pPr algn="l" marL="0" marR="0">
              <a:lnSpc>
                <a:spcPct val="120000"/>
              </a:lnSpc>
              <a:spcBef>
                <a:spcPts val="0"/>
              </a:spcBef>
              <a:spcAft>
                <a:spcPts val="0"/>
              </a:spcAft>
              <a:buNone/>
            </a:pPr>
            <a:r>
              <a:rPr cap="none" sz="3000" i="0" b="1" u="none">
                <a:solidFill>
                  <a:srgbClr val="004A82">
                    <a:alpha val="100000"/>
                  </a:srgbClr>
                </a:solidFill>
                <a:latin typeface="Montserrat"/>
                <a:cs typeface="Montserrat"/>
                <a:ea typeface="Montserrat"/>
                <a:sym typeface="Montserrat"/>
              </a:rPr>
              <a:t>Resultados</a:t>
            </a:r>
          </a:p>
        </p:txBody>
      </p:sp>
      <p:sp>
        <p:nvSpPr>
          <p:cNvPr id="4" name=""/>
          <p:cNvSpPr>
            <a:spLocks noGrp="1"/>
          </p:cNvSpPr>
          <p:nvPr>
            <p:ph/>
          </p:nvPr>
        </p:nvSpPr>
        <p:spPr>
          <a:xfrm>
            <a:off x="548640" y="2880360"/>
            <a:ext cx="8046720" cy="548640"/>
          </a:xfrm>
        </p:spPr>
        <p:txBody>
          <a:bodyPr/>
          <a:lstStyle/>
          <a:p>
            <a:pPr algn="l" marL="0" marR="0">
              <a:lnSpc>
                <a:spcPct val="120000"/>
              </a:lnSpc>
              <a:spcBef>
                <a:spcPts val="0"/>
              </a:spcBef>
              <a:spcAft>
                <a:spcPts val="0"/>
              </a:spcAft>
              <a:buNone/>
            </a:pPr>
            <a:r>
              <a:rPr cap="none" sz="1700" i="0" b="0" u="none">
                <a:solidFill>
                  <a:srgbClr val="5A6570">
                    <a:alpha val="100000"/>
                  </a:srgbClr>
                </a:solidFill>
                <a:latin typeface="Montserrat"/>
                <a:cs typeface="Montserrat"/>
                <a:ea typeface="Montserrat"/>
                <a:sym typeface="Montserrat"/>
              </a:rPr>
              <a:t>Paneles longitudinales cualitativos · Ronda 1</a:t>
            </a:r>
          </a:p>
        </p:txBody>
      </p:sp>
      <p:sp>
        <p:nvSpPr>
          <p:cNvPr id="5" name=""/>
          <p:cNvSpPr>
            <a:spLocks noGrp="1"/>
          </p:cNvSpPr>
          <p:nvPr>
            <p:ph/>
          </p:nvPr>
        </p:nvSpPr>
        <p:spPr>
          <a:xfrm>
            <a:off x="548640" y="4206240"/>
            <a:ext cx="8046720" cy="365760"/>
          </a:xfrm>
        </p:spPr>
        <p:txBody>
          <a:bodyPr/>
          <a:lstStyle/>
          <a:p>
            <a:pPr algn="l" marL="0" marR="0">
              <a:lnSpc>
                <a:spcPct val="120000"/>
              </a:lnSpc>
              <a:spcBef>
                <a:spcPts val="0"/>
              </a:spcBef>
              <a:spcAft>
                <a:spcPts val="0"/>
              </a:spcAft>
              <a:buNone/>
            </a:pPr>
            <a:r>
              <a:rPr cap="none" sz="1300" i="0" b="0" u="none">
                <a:solidFill>
                  <a:srgbClr val="5A6570">
                    <a:alpha val="100000"/>
                  </a:srgbClr>
                </a:solidFill>
                <a:latin typeface="Montserrat"/>
                <a:cs typeface="Montserrat"/>
                <a:ea typeface="Montserrat"/>
                <a:sym typeface="Montserrat"/>
              </a:rPr>
              <a:t>agosto de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Contenido</a:t>
            </a:r>
          </a:p>
        </p:txBody>
      </p:sp>
      <p:sp>
        <p:nvSpPr>
          <p:cNvPr id="3" name=""/>
          <p:cNvSpPr>
            <a:spLocks noGrp="1"/>
          </p:cNvSpPr>
          <p:nvPr>
            <p:ph/>
          </p:nvPr>
        </p:nvSpPr>
        <p:spPr>
          <a:xfrm>
            <a:off x="822960" y="1280160"/>
            <a:ext cx="7680960" cy="3291840"/>
          </a:xfrm>
        </p:spPr>
        <p:txBody>
          <a:bodyPr/>
          <a:lstStyle/>
          <a:p>
            <a:pPr algn="l" marL="0" marR="0">
              <a:lnSpc>
                <a:spcPct val="190000"/>
              </a:lnSpc>
              <a:spcBef>
                <a:spcPts val="0"/>
              </a:spcBef>
              <a:spcAft>
                <a:spcPts val="0"/>
              </a:spcAft>
              <a:buNone/>
            </a:pPr>
            <a:r>
              <a:rPr cap="none" sz="1400" i="0" b="0" u="none">
                <a:solidFill>
                  <a:srgbClr val="333333">
                    <a:alpha val="100000"/>
                  </a:srgbClr>
                </a:solidFill>
                <a:latin typeface="Montserrat"/>
                <a:cs typeface="Montserrat"/>
                <a:ea typeface="Montserrat"/>
                <a:sym typeface="Montserrat"/>
              </a:rPr>
              <a:t>1. Participantes del panel</a:t>
            </a:r>
          </a:p>
          <a:p>
            <a:pPr algn="l" marL="0" marR="0">
              <a:lnSpc>
                <a:spcPct val="190000"/>
              </a:lnSpc>
              <a:spcBef>
                <a:spcPts val="0"/>
              </a:spcBef>
              <a:spcAft>
                <a:spcPts val="0"/>
              </a:spcAft>
              <a:buNone/>
            </a:pPr>
            <a:r>
              <a:rPr cap="none" sz="1400" i="0" b="0" u="none">
                <a:solidFill>
                  <a:srgbClr val="333333">
                    <a:alpha val="100000"/>
                  </a:srgbClr>
                </a:solidFill>
                <a:latin typeface="Montserrat"/>
                <a:cs typeface="Montserrat"/>
                <a:ea typeface="Montserrat"/>
                <a:sym typeface="Montserrat"/>
              </a:rPr>
              <a:t>2. Indicadores de la ronda</a:t>
            </a:r>
          </a:p>
          <a:p>
            <a:pPr algn="l" marL="0" marR="0">
              <a:lnSpc>
                <a:spcPct val="190000"/>
              </a:lnSpc>
              <a:spcBef>
                <a:spcPts val="0"/>
              </a:spcBef>
              <a:spcAft>
                <a:spcPts val="0"/>
              </a:spcAft>
              <a:buNone/>
            </a:pPr>
            <a:r>
              <a:rPr cap="none" sz="1400" i="0" b="0" u="none">
                <a:solidFill>
                  <a:srgbClr val="333333">
                    <a:alpha val="100000"/>
                  </a:srgbClr>
                </a:solidFill>
                <a:latin typeface="Montserrat"/>
                <a:cs typeface="Montserrat"/>
                <a:ea typeface="Montserrat"/>
                <a:sym typeface="Montserrat"/>
              </a:rPr>
              <a:t>3. Módulo 1: Q1</a:t>
            </a:r>
          </a:p>
          <a:p>
            <a:pPr algn="l" marL="0" marR="0">
              <a:lnSpc>
                <a:spcPct val="190000"/>
              </a:lnSpc>
              <a:spcBef>
                <a:spcPts val="0"/>
              </a:spcBef>
              <a:spcAft>
                <a:spcPts val="0"/>
              </a:spcAft>
              <a:buNone/>
            </a:pPr>
            <a:r>
              <a:rPr cap="none" sz="1400" i="0" b="0" u="none">
                <a:solidFill>
                  <a:srgbClr val="333333">
                    <a:alpha val="100000"/>
                  </a:srgbClr>
                </a:solidFill>
                <a:latin typeface="Montserrat"/>
                <a:cs typeface="Montserrat"/>
                <a:ea typeface="Montserrat"/>
                <a:sym typeface="Montserrat"/>
              </a:rPr>
              <a:t>4. Módulo 2: Q2</a:t>
            </a:r>
          </a:p>
          <a:p>
            <a:pPr algn="l" marL="0" marR="0">
              <a:lnSpc>
                <a:spcPct val="190000"/>
              </a:lnSpc>
              <a:spcBef>
                <a:spcPts val="0"/>
              </a:spcBef>
              <a:spcAft>
                <a:spcPts val="0"/>
              </a:spcAft>
              <a:buNone/>
            </a:pPr>
            <a:r>
              <a:rPr cap="none" sz="1400" i="0" b="0" u="none">
                <a:solidFill>
                  <a:srgbClr val="333333">
                    <a:alpha val="100000"/>
                  </a:srgbClr>
                </a:solidFill>
                <a:latin typeface="Montserrat"/>
                <a:cs typeface="Montserrat"/>
                <a:ea typeface="Montserrat"/>
                <a:sym typeface="Montserrat"/>
              </a:rPr>
              <a:t>5. Módulo 3: Q3</a:t>
            </a:r>
          </a:p>
          <a:p>
            <a:pPr algn="l" marL="0" marR="0">
              <a:lnSpc>
                <a:spcPct val="190000"/>
              </a:lnSpc>
              <a:spcBef>
                <a:spcPts val="0"/>
              </a:spcBef>
              <a:spcAft>
                <a:spcPts val="0"/>
              </a:spcAft>
              <a:buNone/>
            </a:pPr>
            <a:r>
              <a:rPr cap="none" sz="1400" i="0" b="0" u="none">
                <a:solidFill>
                  <a:srgbClr val="333333">
                    <a:alpha val="100000"/>
                  </a:srgbClr>
                </a:solidFill>
                <a:latin typeface="Montserrat"/>
                <a:cs typeface="Montserrat"/>
                <a:ea typeface="Montserrat"/>
                <a:sym typeface="Montserrat"/>
              </a:rPr>
              <a:t>6. Módulo 4: Q5</a:t>
            </a:r>
          </a:p>
          <a:p>
            <a:pPr algn="l" marL="0" marR="0">
              <a:lnSpc>
                <a:spcPct val="190000"/>
              </a:lnSpc>
              <a:spcBef>
                <a:spcPts val="0"/>
              </a:spcBef>
              <a:spcAft>
                <a:spcPts val="0"/>
              </a:spcAft>
              <a:buNone/>
            </a:pPr>
            <a:r>
              <a:rPr cap="none" sz="1400" i="0" b="0" u="none">
                <a:solidFill>
                  <a:srgbClr val="333333">
                    <a:alpha val="100000"/>
                  </a:srgbClr>
                </a:solidFill>
                <a:latin typeface="Montserrat"/>
                <a:cs typeface="Montserrat"/>
                <a:ea typeface="Montserrat"/>
                <a:sym typeface="Montserrat"/>
              </a:rPr>
              <a:t>7. Módulo 5: Q6</a:t>
            </a:r>
          </a:p>
          <a:p>
            <a:pPr algn="l" marL="0" marR="0">
              <a:lnSpc>
                <a:spcPct val="190000"/>
              </a:lnSpc>
              <a:spcBef>
                <a:spcPts val="0"/>
              </a:spcBef>
              <a:spcAft>
                <a:spcPts val="0"/>
              </a:spcAft>
              <a:buNone/>
            </a:pPr>
            <a:r>
              <a:rPr cap="none" sz="1400" i="0" b="0" u="none">
                <a:solidFill>
                  <a:srgbClr val="333333">
                    <a:alpha val="100000"/>
                  </a:srgbClr>
                </a:solidFill>
                <a:latin typeface="Montserrat"/>
                <a:cs typeface="Montserrat"/>
                <a:ea typeface="Montserrat"/>
                <a:sym typeface="Montserrat"/>
              </a:rPr>
              <a:t>8. Módulo 6: Q7</a:t>
            </a:r>
          </a:p>
          <a:p>
            <a:pPr algn="l" marL="0" marR="0">
              <a:lnSpc>
                <a:spcPct val="190000"/>
              </a:lnSpc>
              <a:spcBef>
                <a:spcPts val="0"/>
              </a:spcBef>
              <a:spcAft>
                <a:spcPts val="0"/>
              </a:spcAft>
              <a:buNone/>
            </a:pPr>
            <a:r>
              <a:rPr cap="none" sz="1400" i="0" b="0" u="none">
                <a:solidFill>
                  <a:srgbClr val="333333">
                    <a:alpha val="100000"/>
                  </a:srgbClr>
                </a:solidFill>
                <a:latin typeface="Montserrat"/>
                <a:cs typeface="Montserrat"/>
                <a:ea typeface="Montserrat"/>
                <a:sym typeface="Montserrat"/>
              </a:rPr>
              <a:t>9. Módulo 7: Q8</a:t>
            </a:r>
          </a:p>
          <a:p>
            <a:pPr algn="l" marL="0" marR="0">
              <a:lnSpc>
                <a:spcPct val="190000"/>
              </a:lnSpc>
              <a:spcBef>
                <a:spcPts val="0"/>
              </a:spcBef>
              <a:spcAft>
                <a:spcPts val="0"/>
              </a:spcAft>
              <a:buNone/>
            </a:pPr>
            <a:r>
              <a:rPr cap="none" sz="1400" i="0" b="0" u="none">
                <a:solidFill>
                  <a:srgbClr val="333333">
                    <a:alpha val="100000"/>
                  </a:srgbClr>
                </a:solidFill>
                <a:latin typeface="Montserrat"/>
                <a:cs typeface="Montserrat"/>
                <a:ea typeface="Montserrat"/>
                <a:sym typeface="Montserrat"/>
              </a:rPr>
              <a:t>10. Módulo 8: Q9</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40080" y="1737360"/>
            <a:ext cx="1097280" cy="914400"/>
          </a:xfrm>
        </p:spPr>
        <p:txBody>
          <a:bodyPr/>
          <a:lstStyle/>
          <a:p>
            <a:pPr algn="l" marL="0" marR="0">
              <a:lnSpc>
                <a:spcPct val="120000"/>
              </a:lnSpc>
              <a:spcBef>
                <a:spcPts val="0"/>
              </a:spcBef>
              <a:spcAft>
                <a:spcPts val="0"/>
              </a:spcAft>
              <a:buNone/>
            </a:pPr>
            <a:r>
              <a:rPr cap="none" sz="5400" i="0" b="1" u="none">
                <a:solidFill>
                  <a:srgbClr val="D8DDE2">
                    <a:alpha val="100000"/>
                  </a:srgbClr>
                </a:solidFill>
                <a:latin typeface="Montserrat"/>
                <a:cs typeface="Montserrat"/>
                <a:ea typeface="Montserrat"/>
                <a:sym typeface="Montserrat"/>
              </a:rPr>
              <a:t>1</a:t>
            </a:r>
          </a:p>
        </p:txBody>
      </p:sp>
      <p:sp>
        <p:nvSpPr>
          <p:cNvPr id="3" name=""/>
          <p:cNvSpPr>
            <a:spLocks noGrp="1"/>
          </p:cNvSpPr>
          <p:nvPr>
            <p:ph/>
          </p:nvPr>
        </p:nvSpPr>
        <p:spPr>
          <a:xfrm>
            <a:off x="1737360" y="1920240"/>
            <a:ext cx="6766560" cy="1280160"/>
          </a:xfrm>
        </p:spPr>
        <p:txBody>
          <a:bodyPr/>
          <a:lstStyle/>
          <a:p>
            <a:pPr algn="l" marL="0" marR="0">
              <a:lnSpc>
                <a:spcPct val="120000"/>
              </a:lnSpc>
              <a:spcBef>
                <a:spcPts val="0"/>
              </a:spcBef>
              <a:spcAft>
                <a:spcPts val="0"/>
              </a:spcAft>
              <a:buNone/>
            </a:pPr>
            <a:r>
              <a:rPr cap="none" sz="2600" i="0" b="1" u="none">
                <a:solidFill>
                  <a:srgbClr val="004A82">
                    <a:alpha val="100000"/>
                  </a:srgbClr>
                </a:solidFill>
                <a:latin typeface="Montserrat"/>
                <a:cs typeface="Montserrat"/>
                <a:ea typeface="Montserrat"/>
                <a:sym typeface="Montserrat"/>
              </a:rPr>
              <a:t>Participantes del panel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Sexo</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Personas que respondieron la ronda (N = 137)</a:t>
            </a:r>
          </a:p>
        </p:txBody>
      </p:sp>
      <p:pic>
        <p:nvPicPr>
          <p:cNvPr id="4" name="" descr=""/>
          <p:cNvPicPr>
            <a:picLocks noGrp="1"/>
          </p:cNvPicPr>
          <p:nvPr>
            <p:ph/>
          </p:nvPr>
        </p:nvPicPr>
        <p:blipFill>
          <a:blip cstate="print" r:embed="rId2"/>
          <a:stretch>
            <a:fillRect/>
          </a:stretch>
        </p:blipFill>
        <p:spPr>
          <a:xfrm>
            <a:off x="548640" y="1234440"/>
            <a:ext cx="8046720" cy="3291840"/>
          </a:xfrm>
          <a:prstGeom prst="rect">
            <a:avLst/>
          </a:prstGeom>
        </p:spPr>
      </p:pic>
      <p:sp>
        <p:nvSpPr>
          <p:cNvPr id="5" name=""/>
          <p:cNvSpPr>
            <a:spLocks noGrp="1"/>
          </p:cNvSpPr>
          <p:nvPr>
            <p:ph/>
          </p:nvPr>
        </p:nvSpPr>
        <p:spPr>
          <a:xfrm>
            <a:off x="548640" y="4617720"/>
            <a:ext cx="8046720" cy="320040"/>
          </a:xfrm>
        </p:spPr>
        <p:txBody>
          <a:bodyPr/>
          <a:lstStyle/>
          <a:p>
            <a:pPr algn="l" marL="0" marR="0">
              <a:lnSpc>
                <a:spcPct val="120000"/>
              </a:lnSpc>
              <a:spcBef>
                <a:spcPts val="0"/>
              </a:spcBef>
              <a:spcAft>
                <a:spcPts val="0"/>
              </a:spcAft>
              <a:buNone/>
            </a:pPr>
            <a:r>
              <a:rPr cap="none" sz="900" i="1" b="0" u="none">
                <a:solidFill>
                  <a:srgbClr val="5A6570">
                    <a:alpha val="100000"/>
                  </a:srgbClr>
                </a:solidFill>
                <a:latin typeface="Montserrat"/>
                <a:cs typeface="Montserrat"/>
                <a:ea typeface="Montserrat"/>
                <a:sym typeface="Montserrat"/>
              </a:rPr>
              <a:t>13 personas sin dato en esta variable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Edad</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Personas que respondieron la ronda (N = 135)</a:t>
            </a:r>
          </a:p>
        </p:txBody>
      </p:sp>
      <p:pic>
        <p:nvPicPr>
          <p:cNvPr id="4" name="" descr=""/>
          <p:cNvPicPr>
            <a:picLocks noGrp="1"/>
          </p:cNvPicPr>
          <p:nvPr>
            <p:ph/>
          </p:nvPr>
        </p:nvPicPr>
        <p:blipFill>
          <a:blip cstate="print" r:embed="rId2"/>
          <a:stretch>
            <a:fillRect/>
          </a:stretch>
        </p:blipFill>
        <p:spPr>
          <a:xfrm>
            <a:off x="548640" y="1234440"/>
            <a:ext cx="8046720" cy="3291840"/>
          </a:xfrm>
          <a:prstGeom prst="rect">
            <a:avLst/>
          </a:prstGeom>
        </p:spPr>
      </p:pic>
      <p:sp>
        <p:nvSpPr>
          <p:cNvPr id="5" name=""/>
          <p:cNvSpPr>
            <a:spLocks noGrp="1"/>
          </p:cNvSpPr>
          <p:nvPr>
            <p:ph/>
          </p:nvPr>
        </p:nvSpPr>
        <p:spPr>
          <a:xfrm>
            <a:off x="548640" y="4617720"/>
            <a:ext cx="8046720" cy="320040"/>
          </a:xfrm>
        </p:spPr>
        <p:txBody>
          <a:bodyPr/>
          <a:lstStyle/>
          <a:p>
            <a:pPr algn="l" marL="0" marR="0">
              <a:lnSpc>
                <a:spcPct val="120000"/>
              </a:lnSpc>
              <a:spcBef>
                <a:spcPts val="0"/>
              </a:spcBef>
              <a:spcAft>
                <a:spcPts val="0"/>
              </a:spcAft>
              <a:buNone/>
            </a:pPr>
            <a:r>
              <a:rPr cap="none" sz="900" i="1" b="0" u="none">
                <a:solidFill>
                  <a:srgbClr val="5A6570">
                    <a:alpha val="100000"/>
                  </a:srgbClr>
                </a:solidFill>
                <a:latin typeface="Montserrat"/>
                <a:cs typeface="Montserrat"/>
                <a:ea typeface="Montserrat"/>
                <a:sym typeface="Montserrat"/>
              </a:rPr>
              <a:t>15 personas sin dato en esta variable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Región</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Personas que respondieron la ronda (N = 137)</a:t>
            </a:r>
          </a:p>
        </p:txBody>
      </p:sp>
      <p:pic>
        <p:nvPicPr>
          <p:cNvPr id="4" name="" descr=""/>
          <p:cNvPicPr>
            <a:picLocks noGrp="1"/>
          </p:cNvPicPr>
          <p:nvPr>
            <p:ph/>
          </p:nvPr>
        </p:nvPicPr>
        <p:blipFill>
          <a:blip cstate="print" r:embed="rId2"/>
          <a:stretch>
            <a:fillRect/>
          </a:stretch>
        </p:blipFill>
        <p:spPr>
          <a:xfrm>
            <a:off x="548640" y="1234440"/>
            <a:ext cx="8046720" cy="3291840"/>
          </a:xfrm>
          <a:prstGeom prst="rect">
            <a:avLst/>
          </a:prstGeom>
        </p:spPr>
      </p:pic>
      <p:sp>
        <p:nvSpPr>
          <p:cNvPr id="5" name=""/>
          <p:cNvSpPr>
            <a:spLocks noGrp="1"/>
          </p:cNvSpPr>
          <p:nvPr>
            <p:ph/>
          </p:nvPr>
        </p:nvSpPr>
        <p:spPr>
          <a:xfrm>
            <a:off x="548640" y="4617720"/>
            <a:ext cx="8046720" cy="320040"/>
          </a:xfrm>
        </p:spPr>
        <p:txBody>
          <a:bodyPr/>
          <a:lstStyle/>
          <a:p>
            <a:pPr algn="l" marL="0" marR="0">
              <a:lnSpc>
                <a:spcPct val="120000"/>
              </a:lnSpc>
              <a:spcBef>
                <a:spcPts val="0"/>
              </a:spcBef>
              <a:spcAft>
                <a:spcPts val="0"/>
              </a:spcAft>
              <a:buNone/>
            </a:pPr>
            <a:r>
              <a:rPr cap="none" sz="900" i="1" b="0" u="none">
                <a:solidFill>
                  <a:srgbClr val="5A6570">
                    <a:alpha val="100000"/>
                  </a:srgbClr>
                </a:solidFill>
                <a:latin typeface="Montserrat"/>
                <a:cs typeface="Montserrat"/>
                <a:ea typeface="Montserrat"/>
                <a:sym typeface="Montserrat"/>
              </a:rPr>
              <a:t>13 personas sin dato en esta variable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Autoubicación ideológica</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Personas que respondieron la ronda (N = 126)</a:t>
            </a:r>
          </a:p>
        </p:txBody>
      </p:sp>
      <p:pic>
        <p:nvPicPr>
          <p:cNvPr id="4" name="" descr=""/>
          <p:cNvPicPr>
            <a:picLocks noGrp="1"/>
          </p:cNvPicPr>
          <p:nvPr>
            <p:ph/>
          </p:nvPr>
        </p:nvPicPr>
        <p:blipFill>
          <a:blip cstate="print" r:embed="rId2"/>
          <a:stretch>
            <a:fillRect/>
          </a:stretch>
        </p:blipFill>
        <p:spPr>
          <a:xfrm>
            <a:off x="548640" y="1234440"/>
            <a:ext cx="8046720" cy="3291840"/>
          </a:xfrm>
          <a:prstGeom prst="rect">
            <a:avLst/>
          </a:prstGeom>
        </p:spPr>
      </p:pic>
      <p:sp>
        <p:nvSpPr>
          <p:cNvPr id="5" name=""/>
          <p:cNvSpPr>
            <a:spLocks noGrp="1"/>
          </p:cNvSpPr>
          <p:nvPr>
            <p:ph/>
          </p:nvPr>
        </p:nvSpPr>
        <p:spPr>
          <a:xfrm>
            <a:off x="548640" y="4617720"/>
            <a:ext cx="8046720" cy="320040"/>
          </a:xfrm>
        </p:spPr>
        <p:txBody>
          <a:bodyPr/>
          <a:lstStyle/>
          <a:p>
            <a:pPr algn="l" marL="0" marR="0">
              <a:lnSpc>
                <a:spcPct val="120000"/>
              </a:lnSpc>
              <a:spcBef>
                <a:spcPts val="0"/>
              </a:spcBef>
              <a:spcAft>
                <a:spcPts val="0"/>
              </a:spcAft>
              <a:buNone/>
            </a:pPr>
            <a:r>
              <a:rPr cap="none" sz="900" i="1" b="0" u="none">
                <a:solidFill>
                  <a:srgbClr val="5A6570">
                    <a:alpha val="100000"/>
                  </a:srgbClr>
                </a:solidFill>
                <a:latin typeface="Montserrat"/>
                <a:cs typeface="Montserrat"/>
                <a:ea typeface="Montserrat"/>
                <a:sym typeface="Montserrat"/>
              </a:rPr>
              <a:t>24 personas sin dato en esta variable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Nivel educativo</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Personas que respondieron la ronda (N = 137)</a:t>
            </a:r>
          </a:p>
        </p:txBody>
      </p:sp>
      <p:pic>
        <p:nvPicPr>
          <p:cNvPr id="4" name="" descr=""/>
          <p:cNvPicPr>
            <a:picLocks noGrp="1"/>
          </p:cNvPicPr>
          <p:nvPr>
            <p:ph/>
          </p:nvPr>
        </p:nvPicPr>
        <p:blipFill>
          <a:blip cstate="print" r:embed="rId2"/>
          <a:stretch>
            <a:fillRect/>
          </a:stretch>
        </p:blipFill>
        <p:spPr>
          <a:xfrm>
            <a:off x="548640" y="1234440"/>
            <a:ext cx="8046720" cy="3291840"/>
          </a:xfrm>
          <a:prstGeom prst="rect">
            <a:avLst/>
          </a:prstGeom>
        </p:spPr>
      </p:pic>
      <p:sp>
        <p:nvSpPr>
          <p:cNvPr id="5" name=""/>
          <p:cNvSpPr>
            <a:spLocks noGrp="1"/>
          </p:cNvSpPr>
          <p:nvPr>
            <p:ph/>
          </p:nvPr>
        </p:nvSpPr>
        <p:spPr>
          <a:xfrm>
            <a:off x="548640" y="4617720"/>
            <a:ext cx="8046720" cy="320040"/>
          </a:xfrm>
        </p:spPr>
        <p:txBody>
          <a:bodyPr/>
          <a:lstStyle/>
          <a:p>
            <a:pPr algn="l" marL="0" marR="0">
              <a:lnSpc>
                <a:spcPct val="120000"/>
              </a:lnSpc>
              <a:spcBef>
                <a:spcPts val="0"/>
              </a:spcBef>
              <a:spcAft>
                <a:spcPts val="0"/>
              </a:spcAft>
              <a:buNone/>
            </a:pPr>
            <a:r>
              <a:rPr cap="none" sz="900" i="1" b="0" u="none">
                <a:solidFill>
                  <a:srgbClr val="5A6570">
                    <a:alpha val="100000"/>
                  </a:srgbClr>
                </a:solidFill>
                <a:latin typeface="Montserrat"/>
                <a:cs typeface="Montserrat"/>
                <a:ea typeface="Montserrat"/>
                <a:sym typeface="Montserrat"/>
              </a:rPr>
              <a:t>13 personas sin dato en esta variable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Voto 2024</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Personas que respondieron la ronda (N = 132)</a:t>
            </a:r>
          </a:p>
        </p:txBody>
      </p:sp>
      <p:pic>
        <p:nvPicPr>
          <p:cNvPr id="4" name="" descr=""/>
          <p:cNvPicPr>
            <a:picLocks noGrp="1"/>
          </p:cNvPicPr>
          <p:nvPr>
            <p:ph/>
          </p:nvPr>
        </p:nvPicPr>
        <p:blipFill>
          <a:blip cstate="print" r:embed="rId2"/>
          <a:stretch>
            <a:fillRect/>
          </a:stretch>
        </p:blipFill>
        <p:spPr>
          <a:xfrm>
            <a:off x="548640" y="1234440"/>
            <a:ext cx="8046720" cy="3291840"/>
          </a:xfrm>
          <a:prstGeom prst="rect">
            <a:avLst/>
          </a:prstGeom>
        </p:spPr>
      </p:pic>
      <p:sp>
        <p:nvSpPr>
          <p:cNvPr id="5" name=""/>
          <p:cNvSpPr>
            <a:spLocks noGrp="1"/>
          </p:cNvSpPr>
          <p:nvPr>
            <p:ph/>
          </p:nvPr>
        </p:nvSpPr>
        <p:spPr>
          <a:xfrm>
            <a:off x="548640" y="4617720"/>
            <a:ext cx="8046720" cy="320040"/>
          </a:xfrm>
        </p:spPr>
        <p:txBody>
          <a:bodyPr/>
          <a:lstStyle/>
          <a:p>
            <a:pPr algn="l" marL="0" marR="0">
              <a:lnSpc>
                <a:spcPct val="120000"/>
              </a:lnSpc>
              <a:spcBef>
                <a:spcPts val="0"/>
              </a:spcBef>
              <a:spcAft>
                <a:spcPts val="0"/>
              </a:spcAft>
              <a:buNone/>
            </a:pPr>
            <a:r>
              <a:rPr cap="none" sz="900" i="1" b="0" u="none">
                <a:solidFill>
                  <a:srgbClr val="5A6570">
                    <a:alpha val="100000"/>
                  </a:srgbClr>
                </a:solidFill>
                <a:latin typeface="Montserrat"/>
                <a:cs typeface="Montserrat"/>
                <a:ea typeface="Montserrat"/>
                <a:sym typeface="Montserrat"/>
              </a:rPr>
              <a:t>18 personas sin dato en esta variable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40080" y="1737360"/>
            <a:ext cx="1097280" cy="914400"/>
          </a:xfrm>
        </p:spPr>
        <p:txBody>
          <a:bodyPr/>
          <a:lstStyle/>
          <a:p>
            <a:pPr algn="l" marL="0" marR="0">
              <a:lnSpc>
                <a:spcPct val="120000"/>
              </a:lnSpc>
              <a:spcBef>
                <a:spcPts val="0"/>
              </a:spcBef>
              <a:spcAft>
                <a:spcPts val="0"/>
              </a:spcAft>
              <a:buNone/>
            </a:pPr>
            <a:r>
              <a:rPr cap="none" sz="5400" i="0" b="1" u="none">
                <a:solidFill>
                  <a:srgbClr val="D8DDE2">
                    <a:alpha val="100000"/>
                  </a:srgbClr>
                </a:solidFill>
                <a:latin typeface="Montserrat"/>
                <a:cs typeface="Montserrat"/>
                <a:ea typeface="Montserrat"/>
                <a:sym typeface="Montserrat"/>
              </a:rPr>
              <a:t>2</a:t>
            </a:r>
          </a:p>
        </p:txBody>
      </p:sp>
      <p:sp>
        <p:nvSpPr>
          <p:cNvPr id="3" name=""/>
          <p:cNvSpPr>
            <a:spLocks noGrp="1"/>
          </p:cNvSpPr>
          <p:nvPr>
            <p:ph/>
          </p:nvPr>
        </p:nvSpPr>
        <p:spPr>
          <a:xfrm>
            <a:off x="1737360" y="1920240"/>
            <a:ext cx="6766560" cy="1280160"/>
          </a:xfrm>
        </p:spPr>
        <p:txBody>
          <a:bodyPr/>
          <a:lstStyle/>
          <a:p>
            <a:pPr algn="l" marL="0" marR="0">
              <a:lnSpc>
                <a:spcPct val="120000"/>
              </a:lnSpc>
              <a:spcBef>
                <a:spcPts val="0"/>
              </a:spcBef>
              <a:spcAft>
                <a:spcPts val="0"/>
              </a:spcAft>
              <a:buNone/>
            </a:pPr>
            <a:r>
              <a:rPr cap="none" sz="2600" i="0" b="1" u="none">
                <a:solidFill>
                  <a:srgbClr val="004A82">
                    <a:alpha val="100000"/>
                  </a:srgbClr>
                </a:solidFill>
                <a:latin typeface="Montserrat"/>
                <a:cs typeface="Montserrat"/>
                <a:ea typeface="Montserrat"/>
                <a:sym typeface="Montserrat"/>
              </a:rPr>
              <a:t>Indicadores de la ronda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Cobertura de la ronda</a:t>
            </a:r>
          </a:p>
        </p:txBody>
      </p:sp>
      <p:sp>
        <p:nvSpPr>
          <p:cNvPr id="3" name=""/>
          <p:cNvSpPr>
            <a:spLocks noGrp="1"/>
          </p:cNvSpPr>
          <p:nvPr>
            <p:ph/>
          </p:nvPr>
        </p:nvSpPr>
        <p:spPr>
          <a:xfrm>
            <a:off x="822960" y="1371600"/>
            <a:ext cx="7498080" cy="3108960"/>
          </a:xfrm>
        </p:spPr>
        <p:txBody>
          <a:bodyPr/>
          <a:lstStyle/>
          <a:p>
            <a:pPr algn="l" marL="0" marR="0">
              <a:lnSpc>
                <a:spcPct val="180000"/>
              </a:lnSpc>
              <a:spcBef>
                <a:spcPts val="0"/>
              </a:spcBef>
              <a:spcAft>
                <a:spcPts val="0"/>
              </a:spcAft>
              <a:buNone/>
            </a:pPr>
            <a:r>
              <a:rPr cap="none" sz="1400" i="0" b="0" u="none">
                <a:solidFill>
                  <a:srgbClr val="333333">
                    <a:alpha val="100000"/>
                  </a:srgbClr>
                </a:solidFill>
                <a:latin typeface="Montserrat"/>
                <a:cs typeface="Montserrat"/>
                <a:ea typeface="Montserrat"/>
                <a:sym typeface="Montserrat"/>
              </a:rPr>
              <a:t>Personas contactadas:  278</a:t>
            </a:r>
          </a:p>
          <a:p>
            <a:pPr algn="l" marL="0" marR="0">
              <a:lnSpc>
                <a:spcPct val="180000"/>
              </a:lnSpc>
              <a:spcBef>
                <a:spcPts val="0"/>
              </a:spcBef>
              <a:spcAft>
                <a:spcPts val="0"/>
              </a:spcAft>
              <a:buNone/>
            </a:pPr>
            <a:r>
              <a:rPr cap="none" sz="1400" i="0" b="0" u="none">
                <a:solidFill>
                  <a:srgbClr val="333333">
                    <a:alpha val="100000"/>
                  </a:srgbClr>
                </a:solidFill>
                <a:latin typeface="Montserrat"/>
                <a:cs typeface="Montserrat"/>
                <a:ea typeface="Montserrat"/>
                <a:sym typeface="Montserrat"/>
              </a:rPr>
              <a:t>Respondieron al menos una pregunta:  35</a:t>
            </a:r>
          </a:p>
          <a:p>
            <a:pPr algn="l" marL="0" marR="0">
              <a:lnSpc>
                <a:spcPct val="180000"/>
              </a:lnSpc>
              <a:spcBef>
                <a:spcPts val="0"/>
              </a:spcBef>
              <a:spcAft>
                <a:spcPts val="0"/>
              </a:spcAft>
              <a:buNone/>
            </a:pPr>
            <a:r>
              <a:rPr cap="none" sz="1400" i="0" b="0" u="none">
                <a:solidFill>
                  <a:srgbClr val="333333">
                    <a:alpha val="100000"/>
                  </a:srgbClr>
                </a:solidFill>
                <a:latin typeface="Montserrat"/>
                <a:cs typeface="Montserrat"/>
                <a:ea typeface="Montserrat"/>
                <a:sym typeface="Montserrat"/>
              </a:rPr>
              <a:t>Completaron el cuestionario:  115</a:t>
            </a:r>
          </a:p>
          <a:p>
            <a:pPr algn="l" marL="0" marR="0">
              <a:lnSpc>
                <a:spcPct val="180000"/>
              </a:lnSpc>
              <a:spcBef>
                <a:spcPts val="0"/>
              </a:spcBef>
              <a:spcAft>
                <a:spcPts val="0"/>
              </a:spcAft>
              <a:buNone/>
            </a:pPr>
            <a:r>
              <a:rPr cap="none" sz="1400" i="0" b="0" u="none">
                <a:solidFill>
                  <a:srgbClr val="333333">
                    <a:alpha val="100000"/>
                  </a:srgbClr>
                </a:solidFill>
                <a:latin typeface="Montserrat"/>
                <a:cs typeface="Montserrat"/>
                <a:ea typeface="Montserrat"/>
                <a:sym typeface="Montserrat"/>
              </a:rPr>
              <a:t>Tasa de respuesta (%):  54</a:t>
            </a:r>
          </a:p>
          <a:p>
            <a:pPr algn="l" marL="0" marR="0">
              <a:lnSpc>
                <a:spcPct val="180000"/>
              </a:lnSpc>
              <a:spcBef>
                <a:spcPts val="0"/>
              </a:spcBef>
              <a:spcAft>
                <a:spcPts val="0"/>
              </a:spcAft>
              <a:buNone/>
            </a:pPr>
            <a:r>
              <a:rPr cap="none" sz="1400" i="0" b="0" u="none">
                <a:solidFill>
                  <a:srgbClr val="333333">
                    <a:alpha val="100000"/>
                  </a:srgbClr>
                </a:solidFill>
                <a:latin typeface="Montserrat"/>
                <a:cs typeface="Montserrat"/>
                <a:ea typeface="Montserrat"/>
                <a:sym typeface="Montserrat"/>
              </a:rPr>
              <a:t>Tasa de completitud (%):  41.4</a:t>
            </a:r>
          </a:p>
          <a:p>
            <a:pPr algn="l" marL="0" marR="0">
              <a:lnSpc>
                <a:spcPct val="180000"/>
              </a:lnSpc>
              <a:spcBef>
                <a:spcPts val="0"/>
              </a:spcBef>
              <a:spcAft>
                <a:spcPts val="0"/>
              </a:spcAft>
              <a:buNone/>
            </a:pPr>
            <a:r>
              <a:rPr cap="none" sz="1400" i="0" b="0" u="none">
                <a:solidFill>
                  <a:srgbClr val="333333">
                    <a:alpha val="100000"/>
                  </a:srgbClr>
                </a:solidFill>
                <a:latin typeface="Montserrat"/>
                <a:cs typeface="Montserrat"/>
                <a:ea typeface="Montserrat"/>
                <a:sym typeface="Montserrat"/>
              </a:rPr>
              <a:t>Respuestas totales:  1196</a:t>
            </a:r>
          </a:p>
          <a:p>
            <a:pPr algn="l" marL="0" marR="0">
              <a:lnSpc>
                <a:spcPct val="180000"/>
              </a:lnSpc>
              <a:spcBef>
                <a:spcPts val="0"/>
              </a:spcBef>
              <a:spcAft>
                <a:spcPts val="0"/>
              </a:spcAft>
              <a:buNone/>
            </a:pPr>
            <a:r>
              <a:rPr cap="none" sz="1400" i="0" b="0" u="none">
                <a:solidFill>
                  <a:srgbClr val="333333">
                    <a:alpha val="100000"/>
                  </a:srgbClr>
                </a:solidFill>
                <a:latin typeface="Montserrat"/>
                <a:cs typeface="Montserrat"/>
                <a:ea typeface="Montserrat"/>
                <a:sym typeface="Montserrat"/>
              </a:rPr>
              <a:t>  de las cuales, en audio:  202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548640" y="411480"/>
            <a:ext cx="8046720" cy="365760"/>
          </a:xfrm>
        </p:spPr>
        <p:txBody>
          <a:bodyPr/>
          <a:lstStyle/>
          <a:p>
            <a:pPr algn="l" marL="0" marR="0">
              <a:lnSpc>
                <a:spcPct val="120000"/>
              </a:lnSpc>
              <a:spcBef>
                <a:spcPts val="0"/>
              </a:spcBef>
              <a:spcAft>
                <a:spcPts val="0"/>
              </a:spcAft>
              <a:buNone/>
            </a:pPr>
            <a:r>
              <a:rPr cap="none" sz="1200" i="0" b="1" u="none">
                <a:solidFill>
                  <a:srgbClr val="5A6570">
                    <a:alpha val="100000"/>
                  </a:srgbClr>
                </a:solidFill>
                <a:latin typeface="Montserrat"/>
                <a:cs typeface="Montserrat"/>
                <a:ea typeface="Montserrat"/>
                <a:sym typeface="Montserrat"/>
              </a:rPr>
              <a:t>Módulo 1 · Q1</a:t>
            </a:r>
          </a:p>
        </p:txBody>
      </p:sp>
      <p:sp>
        <p:nvSpPr>
          <p:cNvPr id="3" name=""/>
          <p:cNvSpPr>
            <a:spLocks noGrp="1"/>
          </p:cNvSpPr>
          <p:nvPr>
            <p:ph/>
          </p:nvPr>
        </p:nvSpPr>
        <p:spPr>
          <a:xfrm>
            <a:off x="548640" y="1005840"/>
            <a:ext cx="8046720" cy="2560320"/>
          </a:xfrm>
        </p:spPr>
        <p:txBody>
          <a:bodyPr/>
          <a:lstStyle/>
          <a:p>
            <a:pPr algn="l" marL="0" marR="0">
              <a:lnSpc>
                <a:spcPct val="135000"/>
              </a:lnSpc>
              <a:spcBef>
                <a:spcPts val="0"/>
              </a:spcBef>
              <a:spcAft>
                <a:spcPts val="0"/>
              </a:spcAft>
              <a:buNone/>
            </a:pPr>
            <a:r>
              <a:rPr cap="none" sz="2000" i="0" b="0" u="none">
                <a:solidFill>
                  <a:srgbClr val="004A82">
                    <a:alpha val="100000"/>
                  </a:srgbClr>
                </a:solidFill>
                <a:latin typeface="Montserrat"/>
                <a:cs typeface="Montserrat"/>
                <a:ea typeface="Montserrat"/>
                <a:sym typeface="Montserrat"/>
              </a:rPr>
              <a:t>“¿Cómo ves al Uruguay de hoy? Contanos qué pensas sobre la situación del país actualmente.”</a:t>
            </a:r>
          </a:p>
        </p:txBody>
      </p:sp>
      <p:sp>
        <p:nvSpPr>
          <p:cNvPr id="4" name=""/>
          <p:cNvSpPr>
            <a:spLocks noGrp="1"/>
          </p:cNvSpPr>
          <p:nvPr>
            <p:ph/>
          </p:nvPr>
        </p:nvSpPr>
        <p:spPr>
          <a:xfrm>
            <a:off x="548640" y="4114800"/>
            <a:ext cx="8046720" cy="365760"/>
          </a:xfrm>
        </p:spPr>
        <p:txBody>
          <a:bodyPr/>
          <a:lstStyle/>
          <a:p>
            <a:pPr algn="l" marL="0" marR="0">
              <a:lnSpc>
                <a:spcPct val="120000"/>
              </a:lnSpc>
              <a:spcBef>
                <a:spcPts val="0"/>
              </a:spcBef>
              <a:spcAft>
                <a:spcPts val="0"/>
              </a:spcAft>
              <a:buNone/>
            </a:pPr>
            <a:r>
              <a:rPr cap="none" sz="1200" i="0" b="0" u="none">
                <a:solidFill>
                  <a:srgbClr val="5A6570">
                    <a:alpha val="100000"/>
                  </a:srgbClr>
                </a:solidFill>
                <a:latin typeface="Montserrat"/>
                <a:cs typeface="Montserrat"/>
                <a:ea typeface="Montserrat"/>
                <a:sym typeface="Montserrat"/>
              </a:rPr>
              <a:t>150 respuestas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Códigos asignados</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Frecuencia de menciones · 150 respuestas, hasta 3 códigos cada una</a:t>
            </a:r>
          </a:p>
        </p:txBody>
      </p:sp>
      <p:pic>
        <p:nvPicPr>
          <p:cNvPr id="4" name="" descr=""/>
          <p:cNvPicPr>
            <a:picLocks noGrp="1"/>
          </p:cNvPicPr>
          <p:nvPr>
            <p:ph/>
          </p:nvPr>
        </p:nvPicPr>
        <p:blipFill>
          <a:blip cstate="print" r:embed="rId2"/>
          <a:stretch>
            <a:fillRect/>
          </a:stretch>
        </p:blipFill>
        <p:spPr>
          <a:xfrm>
            <a:off x="548640" y="1234440"/>
            <a:ext cx="8046720" cy="3291840"/>
          </a:xfrm>
          <a:prstGeom prst="rect">
            <a:avLst/>
          </a:prstGeom>
        </p:spPr>
      </p:pic>
      <p:sp>
        <p:nvSpPr>
          <p:cNvPr id="5" name=""/>
          <p:cNvSpPr>
            <a:spLocks noGrp="1"/>
          </p:cNvSpPr>
          <p:nvPr>
            <p:ph/>
          </p:nvPr>
        </p:nvSpPr>
        <p:spPr>
          <a:xfrm>
            <a:off x="548640" y="4617720"/>
            <a:ext cx="8046720" cy="320040"/>
          </a:xfrm>
        </p:spPr>
        <p:txBody>
          <a:bodyPr/>
          <a:lstStyle/>
          <a:p>
            <a:pPr algn="l" marL="0" marR="0">
              <a:lnSpc>
                <a:spcPct val="120000"/>
              </a:lnSpc>
              <a:spcBef>
                <a:spcPts val="0"/>
              </a:spcBef>
              <a:spcAft>
                <a:spcPts val="0"/>
              </a:spcAft>
              <a:buNone/>
            </a:pPr>
            <a:r>
              <a:rPr cap="none" sz="900" i="1" b="0" u="none">
                <a:solidFill>
                  <a:srgbClr val="5A6570">
                    <a:alpha val="100000"/>
                  </a:srgbClr>
                </a:solidFill>
                <a:latin typeface="Montserrat"/>
                <a:cs typeface="Montserrat"/>
                <a:ea typeface="Montserrat"/>
                <a:sym typeface="Montserrat"/>
              </a:rPr>
              <a:t>El total de menciones supera al de respuestas porque una respuesta puede recibir más de un código.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Códigos según sexo</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Códigos con 5 o más menciones</a:t>
            </a:r>
          </a:p>
        </p:txBody>
      </p:sp>
      <p:pic>
        <p:nvPicPr>
          <p:cNvPr id="4" name="" descr=""/>
          <p:cNvPicPr>
            <a:picLocks noGrp="1"/>
          </p:cNvPicPr>
          <p:nvPr>
            <p:ph/>
          </p:nvPr>
        </p:nvPicPr>
        <p:blipFill>
          <a:blip cstate="print" r:embed="rId2"/>
          <a:stretch>
            <a:fillRect/>
          </a:stretch>
        </p:blipFill>
        <p:spPr>
          <a:xfrm>
            <a:off x="548640" y="1234440"/>
            <a:ext cx="8046720" cy="32918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Códigos según autoubicación ideológica</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Códigos con 5 o más menciones</a:t>
            </a:r>
          </a:p>
        </p:txBody>
      </p:sp>
      <p:pic>
        <p:nvPicPr>
          <p:cNvPr id="4" name="" descr=""/>
          <p:cNvPicPr>
            <a:picLocks noGrp="1"/>
          </p:cNvPicPr>
          <p:nvPr>
            <p:ph/>
          </p:nvPr>
        </p:nvPicPr>
        <p:blipFill>
          <a:blip cstate="print" r:embed="rId2"/>
          <a:stretch>
            <a:fillRect/>
          </a:stretch>
        </p:blipFill>
        <p:spPr>
          <a:xfrm>
            <a:off x="548640" y="1234440"/>
            <a:ext cx="8046720" cy="32918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Correspondencias: códigos y autoubicación ideológica</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Dim 1: 56.3% de la inercia · Dim 2: 43.7%</a:t>
            </a:r>
          </a:p>
        </p:txBody>
      </p:sp>
      <p:pic>
        <p:nvPicPr>
          <p:cNvPr id="4" name="" descr=""/>
          <p:cNvPicPr>
            <a:picLocks noGrp="1"/>
          </p:cNvPicPr>
          <p:nvPr>
            <p:ph/>
          </p:nvPr>
        </p:nvPicPr>
        <p:blipFill>
          <a:blip cstate="print" r:embed="rId2"/>
          <a:stretch>
            <a:fillRect/>
          </a:stretch>
        </p:blipFill>
        <p:spPr>
          <a:xfrm>
            <a:off x="548640" y="1234440"/>
            <a:ext cx="8046720" cy="3291840"/>
          </a:xfrm>
          <a:prstGeom prst="rect">
            <a:avLst/>
          </a:prstGeom>
        </p:spPr>
      </p:pic>
      <p:sp>
        <p:nvSpPr>
          <p:cNvPr id="5" name=""/>
          <p:cNvSpPr>
            <a:spLocks noGrp="1"/>
          </p:cNvSpPr>
          <p:nvPr>
            <p:ph/>
          </p:nvPr>
        </p:nvSpPr>
        <p:spPr>
          <a:xfrm>
            <a:off x="548640" y="4617720"/>
            <a:ext cx="8046720" cy="320040"/>
          </a:xfrm>
        </p:spPr>
        <p:txBody>
          <a:bodyPr/>
          <a:lstStyle/>
          <a:p>
            <a:pPr algn="l" marL="0" marR="0">
              <a:lnSpc>
                <a:spcPct val="120000"/>
              </a:lnSpc>
              <a:spcBef>
                <a:spcPts val="0"/>
              </a:spcBef>
              <a:spcAft>
                <a:spcPts val="0"/>
              </a:spcAft>
              <a:buNone/>
            </a:pPr>
            <a:r>
              <a:rPr cap="none" sz="900" i="1" b="0" u="none">
                <a:solidFill>
                  <a:srgbClr val="5A6570">
                    <a:alpha val="100000"/>
                  </a:srgbClr>
                </a:solidFill>
                <a:latin typeface="Montserrat"/>
                <a:cs typeface="Montserrat"/>
                <a:ea typeface="Montserrat"/>
                <a:sym typeface="Montserrat"/>
              </a:rPr>
              <a:t>La proximidad indica asociación entre un código y una categoría, no causalidad.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Citas por código</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Citas textuales, sin editar</a:t>
            </a:r>
          </a:p>
        </p:txBody>
      </p:sp>
      <p:sp>
        <p:nvSpPr>
          <p:cNvPr id="4" name=""/>
          <p:cNvSpPr>
            <a:spLocks noGrp="1"/>
          </p:cNvSpPr>
          <p:nvPr>
            <p:ph/>
          </p:nvPr>
        </p:nvSpPr>
        <p:spPr>
          <a:xfrm>
            <a:off x="548640" y="1234440"/>
            <a:ext cx="8046720" cy="3474720"/>
          </a:xfrm>
        </p:spPr>
        <p:txBody>
          <a:bodyPr/>
          <a:lstStyle/>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Inseguridad</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“Hola, en Uruguay de hoy lo encuentro con mucha delincuencia, todo al revés, muy sucio el país, principalmente la delincuencia, las bocas, las muertes, los asesinatos, se ve que se mueve muy lento todo.” </a:t>
            </a:r>
            <a:r>
              <a:rPr cap="none" sz="1000" i="0" b="0" u="none">
                <a:solidFill>
                  <a:srgbClr val="5A6570">
                    <a:alpha val="100000"/>
                  </a:srgbClr>
                </a:solidFill>
                <a:latin typeface="Montserrat"/>
                <a:cs typeface="Montserrat"/>
                <a:ea typeface="Montserrat"/>
                <a:sym typeface="Montserrat"/>
              </a:rPr>
              <a:t>(Mujer, 65, Montevideo)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“Lo veo mal gente sin trabajo pasado mal y la seguridad va decayendo cada ves peor no hay gobierno que halla parado con tanta delincuencia y pichaje en los barrios” </a:t>
            </a:r>
            <a:r>
              <a:rPr cap="none" sz="1000" i="0" b="0" u="none">
                <a:solidFill>
                  <a:srgbClr val="5A6570">
                    <a:alpha val="100000"/>
                  </a:srgbClr>
                </a:solidFill>
                <a:latin typeface="Montserrat"/>
                <a:cs typeface="Montserrat"/>
                <a:ea typeface="Montserrat"/>
                <a:sym typeface="Montserrat"/>
              </a:rPr>
              <a:t>(Mujer, 43, Canelones)</a:t>
            </a:r>
          </a:p>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Economia costo de vida</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“Veo al Uruguay con un país rico. Pero una pletora de políticos corruptos lo tienen hundido.nEl gobierno hace su negocio mientras nos llenan la canilla y los alimentos de veneno. Los Obreros no pueden más todos cansados de pagar impuestos y que no de para llegar a fin de mes.” </a:t>
            </a:r>
            <a:r>
              <a:rPr cap="none" sz="1000" i="0" b="0" u="none">
                <a:solidFill>
                  <a:srgbClr val="5A6570">
                    <a:alpha val="100000"/>
                  </a:srgbClr>
                </a:solidFill>
                <a:latin typeface="Montserrat"/>
                <a:cs typeface="Montserrat"/>
                <a:ea typeface="Montserrat"/>
                <a:sym typeface="Montserrat"/>
              </a:rPr>
              <a:t>(Mujer, 38, Montevideo)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“Muy mala ! Falta trabajo las empresas no están invirtiendo en el país” </a:t>
            </a:r>
            <a:r>
              <a:rPr cap="none" sz="1000" i="0" b="0" u="none">
                <a:solidFill>
                  <a:srgbClr val="5A6570">
                    <a:alpha val="100000"/>
                  </a:srgbClr>
                </a:solidFill>
                <a:latin typeface="Montserrat"/>
                <a:cs typeface="Montserrat"/>
                <a:ea typeface="Montserrat"/>
                <a:sym typeface="Montserrat"/>
              </a:rPr>
              <a:t>(Mujer, 40, Canelones)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Citas por código</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Citas textuales, sin editar</a:t>
            </a:r>
          </a:p>
        </p:txBody>
      </p:sp>
      <p:sp>
        <p:nvSpPr>
          <p:cNvPr id="4" name=""/>
          <p:cNvSpPr>
            <a:spLocks noGrp="1"/>
          </p:cNvSpPr>
          <p:nvPr>
            <p:ph/>
          </p:nvPr>
        </p:nvSpPr>
        <p:spPr>
          <a:xfrm>
            <a:off x="548640" y="1234440"/>
            <a:ext cx="8046720" cy="3474720"/>
          </a:xfrm>
        </p:spPr>
        <p:txBody>
          <a:bodyPr/>
          <a:lstStyle/>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Desigualdad pobreza</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“Bastante mal. Existe una importante desigualdad. Los salarios son muy bajos para el valor de los productos y alquileres. Sumado a esto la violencia e inseguridad lamentablemente son noticia todos los días.” </a:t>
            </a:r>
            <a:r>
              <a:rPr cap="none" sz="1000" i="0" b="0" u="none">
                <a:solidFill>
                  <a:srgbClr val="5A6570">
                    <a:alpha val="100000"/>
                  </a:srgbClr>
                </a:solidFill>
                <a:latin typeface="Montserrat"/>
                <a:cs typeface="Montserrat"/>
                <a:ea typeface="Montserrat"/>
                <a:sym typeface="Montserrat"/>
              </a:rPr>
              <a:t>(Mujer, 29, Montevideo)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“La situación en cuanto a pobreza ha mejorado por la ayuda del gobierno con tarjetas mides viviendas y aumento en asignaciones a los más necesitado. nEn cuanto a desempleo hay mucha gente tratando de conseguir trabajo donde sean bien remunerados y tengan aportes” </a:t>
            </a:r>
            <a:r>
              <a:rPr cap="none" sz="1000" i="0" b="0" u="none">
                <a:solidFill>
                  <a:srgbClr val="5A6570">
                    <a:alpha val="100000"/>
                  </a:srgbClr>
                </a:solidFill>
                <a:latin typeface="Montserrat"/>
                <a:cs typeface="Montserrat"/>
                <a:ea typeface="Montserrat"/>
                <a:sym typeface="Montserrat"/>
              </a:rPr>
              <a:t>(Mujer, 32, Interior)</a:t>
            </a:r>
          </a:p>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Estancamiento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“Podríamos estar mejor en todos los ámbitos esperaba más de este gobierno. Pero hay partes que también las entiendo.” </a:t>
            </a:r>
            <a:r>
              <a:rPr cap="none" sz="1000" i="0" b="0" u="none">
                <a:solidFill>
                  <a:srgbClr val="5A6570">
                    <a:alpha val="100000"/>
                  </a:srgbClr>
                </a:solidFill>
                <a:latin typeface="Montserrat"/>
                <a:cs typeface="Montserrat"/>
                <a:ea typeface="Montserrat"/>
                <a:sym typeface="Montserrat"/>
              </a:rPr>
              <a:t>(Mujer, 24, Montevideo)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“La verdad nada bien hace varios años estamos siempre en lq misma situación” </a:t>
            </a:r>
            <a:r>
              <a:rPr cap="none" sz="1000" i="0" b="0" u="none">
                <a:solidFill>
                  <a:srgbClr val="5A6570">
                    <a:alpha val="100000"/>
                  </a:srgbClr>
                </a:solidFill>
                <a:latin typeface="Montserrat"/>
                <a:cs typeface="Montserrat"/>
                <a:ea typeface="Montserrat"/>
                <a:sym typeface="Montserrat"/>
              </a:rPr>
              <a:t>(Mujer, 49, Canelones)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Citas por código</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Citas textuales, sin editar</a:t>
            </a:r>
          </a:p>
        </p:txBody>
      </p:sp>
      <p:sp>
        <p:nvSpPr>
          <p:cNvPr id="4" name=""/>
          <p:cNvSpPr>
            <a:spLocks noGrp="1"/>
          </p:cNvSpPr>
          <p:nvPr>
            <p:ph/>
          </p:nvPr>
        </p:nvSpPr>
        <p:spPr>
          <a:xfrm>
            <a:off x="548640" y="1234440"/>
            <a:ext cx="8046720" cy="3474720"/>
          </a:xfrm>
        </p:spPr>
        <p:txBody>
          <a:bodyPr/>
          <a:lstStyle/>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Deterioro retroceso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“Veo una decadencia muy grande a nivel social no veo planes que apueste a una mejora ni una intencion de q aparezcan no creo que estemos estables en ningún aspecto salud economía trabajo educación.” </a:t>
            </a:r>
            <a:r>
              <a:rPr cap="none" sz="1000" i="0" b="0" u="none">
                <a:solidFill>
                  <a:srgbClr val="5A6570">
                    <a:alpha val="100000"/>
                  </a:srgbClr>
                </a:solidFill>
                <a:latin typeface="Montserrat"/>
                <a:cs typeface="Montserrat"/>
                <a:ea typeface="Montserrat"/>
                <a:sym typeface="Montserrat"/>
              </a:rPr>
              <a:t>(Mujer, 59, Canelones)</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“En decadencia. En cuanto a seguridad cada vez peor en materia economía sube todo menos los sueldos de los trabajadores. Cómo persona sola que trabaja y estudia hago malabares para llegar a fin de mes. Así que en resumen de mal en peor” </a:t>
            </a:r>
            <a:r>
              <a:rPr cap="none" sz="1000" i="0" b="0" u="none">
                <a:solidFill>
                  <a:srgbClr val="5A6570">
                    <a:alpha val="100000"/>
                  </a:srgbClr>
                </a:solidFill>
                <a:latin typeface="Montserrat"/>
                <a:cs typeface="Montserrat"/>
                <a:ea typeface="Montserrat"/>
                <a:sym typeface="Montserrat"/>
              </a:rPr>
              <a:t>(Mujer, 24, Interior)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548640" y="411480"/>
            <a:ext cx="8046720" cy="365760"/>
          </a:xfrm>
        </p:spPr>
        <p:txBody>
          <a:bodyPr/>
          <a:lstStyle/>
          <a:p>
            <a:pPr algn="l" marL="0" marR="0">
              <a:lnSpc>
                <a:spcPct val="120000"/>
              </a:lnSpc>
              <a:spcBef>
                <a:spcPts val="0"/>
              </a:spcBef>
              <a:spcAft>
                <a:spcPts val="0"/>
              </a:spcAft>
              <a:buNone/>
            </a:pPr>
            <a:r>
              <a:rPr cap="none" sz="1200" i="0" b="1" u="none">
                <a:solidFill>
                  <a:srgbClr val="5A6570">
                    <a:alpha val="100000"/>
                  </a:srgbClr>
                </a:solidFill>
                <a:latin typeface="Montserrat"/>
                <a:cs typeface="Montserrat"/>
                <a:ea typeface="Montserrat"/>
                <a:sym typeface="Montserrat"/>
              </a:rPr>
              <a:t>Módulo 2 · Q2</a:t>
            </a:r>
          </a:p>
        </p:txBody>
      </p:sp>
      <p:sp>
        <p:nvSpPr>
          <p:cNvPr id="3" name=""/>
          <p:cNvSpPr>
            <a:spLocks noGrp="1"/>
          </p:cNvSpPr>
          <p:nvPr>
            <p:ph/>
          </p:nvPr>
        </p:nvSpPr>
        <p:spPr>
          <a:xfrm>
            <a:off x="548640" y="1005840"/>
            <a:ext cx="8046720" cy="2560320"/>
          </a:xfrm>
        </p:spPr>
        <p:txBody>
          <a:bodyPr/>
          <a:lstStyle/>
          <a:p>
            <a:pPr algn="l" marL="0" marR="0">
              <a:lnSpc>
                <a:spcPct val="135000"/>
              </a:lnSpc>
              <a:spcBef>
                <a:spcPts val="0"/>
              </a:spcBef>
              <a:spcAft>
                <a:spcPts val="0"/>
              </a:spcAft>
              <a:buNone/>
            </a:pPr>
            <a:r>
              <a:rPr cap="none" sz="2000" i="0" b="0" u="none">
                <a:solidFill>
                  <a:srgbClr val="004A82">
                    <a:alpha val="100000"/>
                  </a:srgbClr>
                </a:solidFill>
                <a:latin typeface="Montserrat"/>
                <a:cs typeface="Montserrat"/>
                <a:ea typeface="Montserrat"/>
                <a:sym typeface="Montserrat"/>
              </a:rPr>
              <a:t>“Para vos, ¿qué significa tener una buena vida? Contanos cómo sería esa vida en la práctica cotidiana.”</a:t>
            </a:r>
          </a:p>
        </p:txBody>
      </p:sp>
      <p:sp>
        <p:nvSpPr>
          <p:cNvPr id="4" name=""/>
          <p:cNvSpPr>
            <a:spLocks noGrp="1"/>
          </p:cNvSpPr>
          <p:nvPr>
            <p:ph/>
          </p:nvPr>
        </p:nvSpPr>
        <p:spPr>
          <a:xfrm>
            <a:off x="548640" y="4114800"/>
            <a:ext cx="8046720" cy="365760"/>
          </a:xfrm>
        </p:spPr>
        <p:txBody>
          <a:bodyPr/>
          <a:lstStyle/>
          <a:p>
            <a:pPr algn="l" marL="0" marR="0">
              <a:lnSpc>
                <a:spcPct val="120000"/>
              </a:lnSpc>
              <a:spcBef>
                <a:spcPts val="0"/>
              </a:spcBef>
              <a:spcAft>
                <a:spcPts val="0"/>
              </a:spcAft>
              <a:buNone/>
            </a:pPr>
            <a:r>
              <a:rPr cap="none" sz="1200" i="0" b="0" u="none">
                <a:solidFill>
                  <a:srgbClr val="5A6570">
                    <a:alpha val="100000"/>
                  </a:srgbClr>
                </a:solidFill>
                <a:latin typeface="Montserrat"/>
                <a:cs typeface="Montserrat"/>
                <a:ea typeface="Montserrat"/>
                <a:sym typeface="Montserrat"/>
              </a:rPr>
              <a:t>142 respuestas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Códigos asignados</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Frecuencia de menciones · 142 respuestas, hasta 3 códigos cada una</a:t>
            </a:r>
          </a:p>
        </p:txBody>
      </p:sp>
      <p:pic>
        <p:nvPicPr>
          <p:cNvPr id="4" name="" descr=""/>
          <p:cNvPicPr>
            <a:picLocks noGrp="1"/>
          </p:cNvPicPr>
          <p:nvPr>
            <p:ph/>
          </p:nvPr>
        </p:nvPicPr>
        <p:blipFill>
          <a:blip cstate="print" r:embed="rId2"/>
          <a:stretch>
            <a:fillRect/>
          </a:stretch>
        </p:blipFill>
        <p:spPr>
          <a:xfrm>
            <a:off x="548640" y="1234440"/>
            <a:ext cx="8046720" cy="3291840"/>
          </a:xfrm>
          <a:prstGeom prst="rect">
            <a:avLst/>
          </a:prstGeom>
        </p:spPr>
      </p:pic>
      <p:sp>
        <p:nvSpPr>
          <p:cNvPr id="5" name=""/>
          <p:cNvSpPr>
            <a:spLocks noGrp="1"/>
          </p:cNvSpPr>
          <p:nvPr>
            <p:ph/>
          </p:nvPr>
        </p:nvSpPr>
        <p:spPr>
          <a:xfrm>
            <a:off x="548640" y="4617720"/>
            <a:ext cx="8046720" cy="320040"/>
          </a:xfrm>
        </p:spPr>
        <p:txBody>
          <a:bodyPr/>
          <a:lstStyle/>
          <a:p>
            <a:pPr algn="l" marL="0" marR="0">
              <a:lnSpc>
                <a:spcPct val="120000"/>
              </a:lnSpc>
              <a:spcBef>
                <a:spcPts val="0"/>
              </a:spcBef>
              <a:spcAft>
                <a:spcPts val="0"/>
              </a:spcAft>
              <a:buNone/>
            </a:pPr>
            <a:r>
              <a:rPr cap="none" sz="900" i="1" b="0" u="none">
                <a:solidFill>
                  <a:srgbClr val="5A6570">
                    <a:alpha val="100000"/>
                  </a:srgbClr>
                </a:solidFill>
                <a:latin typeface="Montserrat"/>
                <a:cs typeface="Montserrat"/>
                <a:ea typeface="Montserrat"/>
                <a:sym typeface="Montserrat"/>
              </a:rPr>
              <a:t>El total de menciones supera al de respuestas porque una respuesta puede recibir más de un código.</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Códigos según voto 2024</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Códigos con 5 o más menciones</a:t>
            </a:r>
          </a:p>
        </p:txBody>
      </p:sp>
      <p:pic>
        <p:nvPicPr>
          <p:cNvPr id="4" name="" descr=""/>
          <p:cNvPicPr>
            <a:picLocks noGrp="1"/>
          </p:cNvPicPr>
          <p:nvPr>
            <p:ph/>
          </p:nvPr>
        </p:nvPicPr>
        <p:blipFill>
          <a:blip cstate="print" r:embed="rId2"/>
          <a:stretch>
            <a:fillRect/>
          </a:stretch>
        </p:blipFill>
        <p:spPr>
          <a:xfrm>
            <a:off x="548640" y="1234440"/>
            <a:ext cx="8046720" cy="329184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Códigos según autoubicación ideológica</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Códigos con 5 o más menciones</a:t>
            </a:r>
          </a:p>
        </p:txBody>
      </p:sp>
      <p:pic>
        <p:nvPicPr>
          <p:cNvPr id="4" name="" descr=""/>
          <p:cNvPicPr>
            <a:picLocks noGrp="1"/>
          </p:cNvPicPr>
          <p:nvPr>
            <p:ph/>
          </p:nvPr>
        </p:nvPicPr>
        <p:blipFill>
          <a:blip cstate="print" r:embed="rId2"/>
          <a:stretch>
            <a:fillRect/>
          </a:stretch>
        </p:blipFill>
        <p:spPr>
          <a:xfrm>
            <a:off x="548640" y="1234440"/>
            <a:ext cx="8046720" cy="329184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Correspondencias: códigos y voto 2024</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Dim 1: 62.1% de la inercia · Dim 2: 26.4%</a:t>
            </a:r>
          </a:p>
        </p:txBody>
      </p:sp>
      <p:pic>
        <p:nvPicPr>
          <p:cNvPr id="4" name="" descr=""/>
          <p:cNvPicPr>
            <a:picLocks noGrp="1"/>
          </p:cNvPicPr>
          <p:nvPr>
            <p:ph/>
          </p:nvPr>
        </p:nvPicPr>
        <p:blipFill>
          <a:blip cstate="print" r:embed="rId2"/>
          <a:stretch>
            <a:fillRect/>
          </a:stretch>
        </p:blipFill>
        <p:spPr>
          <a:xfrm>
            <a:off x="548640" y="1234440"/>
            <a:ext cx="8046720" cy="3291840"/>
          </a:xfrm>
          <a:prstGeom prst="rect">
            <a:avLst/>
          </a:prstGeom>
        </p:spPr>
      </p:pic>
      <p:sp>
        <p:nvSpPr>
          <p:cNvPr id="5" name=""/>
          <p:cNvSpPr>
            <a:spLocks noGrp="1"/>
          </p:cNvSpPr>
          <p:nvPr>
            <p:ph/>
          </p:nvPr>
        </p:nvSpPr>
        <p:spPr>
          <a:xfrm>
            <a:off x="548640" y="4617720"/>
            <a:ext cx="8046720" cy="320040"/>
          </a:xfrm>
        </p:spPr>
        <p:txBody>
          <a:bodyPr/>
          <a:lstStyle/>
          <a:p>
            <a:pPr algn="l" marL="0" marR="0">
              <a:lnSpc>
                <a:spcPct val="120000"/>
              </a:lnSpc>
              <a:spcBef>
                <a:spcPts val="0"/>
              </a:spcBef>
              <a:spcAft>
                <a:spcPts val="0"/>
              </a:spcAft>
              <a:buNone/>
            </a:pPr>
            <a:r>
              <a:rPr cap="none" sz="900" i="1" b="0" u="none">
                <a:solidFill>
                  <a:srgbClr val="5A6570">
                    <a:alpha val="100000"/>
                  </a:srgbClr>
                </a:solidFill>
                <a:latin typeface="Montserrat"/>
                <a:cs typeface="Montserrat"/>
                <a:ea typeface="Montserrat"/>
                <a:sym typeface="Montserrat"/>
              </a:rPr>
              <a:t>La proximidad indica asociación entre un código y una categoría, no causalidad.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Citas por código</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Citas textuales, sin editar</a:t>
            </a:r>
          </a:p>
        </p:txBody>
      </p:sp>
      <p:sp>
        <p:nvSpPr>
          <p:cNvPr id="4" name=""/>
          <p:cNvSpPr>
            <a:spLocks noGrp="1"/>
          </p:cNvSpPr>
          <p:nvPr>
            <p:ph/>
          </p:nvPr>
        </p:nvSpPr>
        <p:spPr>
          <a:xfrm>
            <a:off x="548640" y="1234440"/>
            <a:ext cx="8046720" cy="3474720"/>
          </a:xfrm>
        </p:spPr>
        <p:txBody>
          <a:bodyPr/>
          <a:lstStyle/>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Trabajo e ingreso suficiente</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“Que tengas un trabajo que te guste que ganes para cubrir tus gastos mensuales que te puedas dar un pequeño gustito y poder ahorrar para algún proyecto” </a:t>
            </a:r>
            <a:r>
              <a:rPr cap="none" sz="1000" i="0" b="0" u="none">
                <a:solidFill>
                  <a:srgbClr val="5A6570">
                    <a:alpha val="100000"/>
                  </a:srgbClr>
                </a:solidFill>
                <a:latin typeface="Montserrat"/>
                <a:cs typeface="Montserrat"/>
                <a:ea typeface="Montserrat"/>
                <a:sym typeface="Montserrat"/>
              </a:rPr>
              <a:t>(Mujer, 57, Montevideo)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“Para tener una buena vida, primero tenés que tener salud, sin salud nada. Tener salud, dinero, que es lo principal para poder salir, pasear, conocer, hacerte los gustos y el amor también de tu familia, de tus hijos, de tu marido, del que vos quieras, pero tener un poquito de amor es bueno también porque serían las tres cosas principales. Salud, dinero, bienestar y amor.” </a:t>
            </a:r>
            <a:r>
              <a:rPr cap="none" sz="1000" i="0" b="0" u="none">
                <a:solidFill>
                  <a:srgbClr val="5A6570">
                    <a:alpha val="100000"/>
                  </a:srgbClr>
                </a:solidFill>
                <a:latin typeface="Montserrat"/>
                <a:cs typeface="Montserrat"/>
                <a:ea typeface="Montserrat"/>
                <a:sym typeface="Montserrat"/>
              </a:rPr>
              <a:t>(Mujer, 61, Canelones)</a:t>
            </a:r>
          </a:p>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Tranquilidad economica</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“Tener salud y tranquilidad económica para poder disfrutar. Y no vivir para trabajar si no trabajar para vivir” </a:t>
            </a:r>
            <a:r>
              <a:rPr cap="none" sz="1000" i="0" b="0" u="none">
                <a:solidFill>
                  <a:srgbClr val="5A6570">
                    <a:alpha val="100000"/>
                  </a:srgbClr>
                </a:solidFill>
                <a:latin typeface="Montserrat"/>
                <a:cs typeface="Montserrat"/>
                <a:ea typeface="Montserrat"/>
                <a:sym typeface="Montserrat"/>
              </a:rPr>
              <a:t>(Mujer, 25, Montevideo)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“Buena vida sería poder comprar las necesidades diarias sin contar el dinero todos los días! nPoder viajar de ves en cuando ! Tener una casa propia auto y no ser un esclavo del trabajo para disfrutar de la familia” </a:t>
            </a:r>
            <a:r>
              <a:rPr cap="none" sz="1000" i="0" b="0" u="none">
                <a:solidFill>
                  <a:srgbClr val="5A6570">
                    <a:alpha val="100000"/>
                  </a:srgbClr>
                </a:solidFill>
                <a:latin typeface="Montserrat"/>
                <a:cs typeface="Montserrat"/>
                <a:ea typeface="Montserrat"/>
                <a:sym typeface="Montserrat"/>
              </a:rPr>
              <a:t>(Mujer, 40, Canelones)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Citas por código</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Citas textuales, sin editar</a:t>
            </a:r>
          </a:p>
        </p:txBody>
      </p:sp>
      <p:sp>
        <p:nvSpPr>
          <p:cNvPr id="4" name=""/>
          <p:cNvSpPr>
            <a:spLocks noGrp="1"/>
          </p:cNvSpPr>
          <p:nvPr>
            <p:ph/>
          </p:nvPr>
        </p:nvSpPr>
        <p:spPr>
          <a:xfrm>
            <a:off x="548640" y="1234440"/>
            <a:ext cx="8046720" cy="3474720"/>
          </a:xfrm>
        </p:spPr>
        <p:txBody>
          <a:bodyPr/>
          <a:lstStyle/>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Necesidades basicas cubiertas</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“Levantarse en un lugar agradable con acceso a higiene personal alimentos de calidad posibilidad de ejercitarse y caminar al trabajo” </a:t>
            </a:r>
            <a:r>
              <a:rPr cap="none" sz="1000" i="0" b="0" u="none">
                <a:solidFill>
                  <a:srgbClr val="5A6570">
                    <a:alpha val="100000"/>
                  </a:srgbClr>
                </a:solidFill>
                <a:latin typeface="Montserrat"/>
                <a:cs typeface="Montserrat"/>
                <a:ea typeface="Montserrat"/>
                <a:sym typeface="Montserrat"/>
              </a:rPr>
              <a:t>(Mujer, 30, Montevideo)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“Cubrir sin exigencias las necesidades básicas y tener un extra de ahorro o disfrute” </a:t>
            </a:r>
            <a:r>
              <a:rPr cap="none" sz="1000" i="0" b="0" u="none">
                <a:solidFill>
                  <a:srgbClr val="5A6570">
                    <a:alpha val="100000"/>
                  </a:srgbClr>
                </a:solidFill>
                <a:latin typeface="Montserrat"/>
                <a:cs typeface="Montserrat"/>
                <a:ea typeface="Montserrat"/>
                <a:sym typeface="Montserrat"/>
              </a:rPr>
              <a:t>(Mujer, 44, Canelones)</a:t>
            </a:r>
          </a:p>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Salud</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“Que tanto tu familia y uno tenga buena salud y que le dé los ingresos para todo lo que implica eso.” </a:t>
            </a:r>
            <a:r>
              <a:rPr cap="none" sz="1000" i="0" b="0" u="none">
                <a:solidFill>
                  <a:srgbClr val="5A6570">
                    <a:alpha val="100000"/>
                  </a:srgbClr>
                </a:solidFill>
                <a:latin typeface="Montserrat"/>
                <a:cs typeface="Montserrat"/>
                <a:ea typeface="Montserrat"/>
                <a:sym typeface="Montserrat"/>
              </a:rPr>
              <a:t>(Mujer, 41, Montevideo)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“Salud seguridad estabilidad económica educación de buen nivel los servicios básicos de excelentísimo nivel” </a:t>
            </a:r>
            <a:r>
              <a:rPr cap="none" sz="1000" i="0" b="0" u="none">
                <a:solidFill>
                  <a:srgbClr val="5A6570">
                    <a:alpha val="100000"/>
                  </a:srgbClr>
                </a:solidFill>
                <a:latin typeface="Montserrat"/>
                <a:cs typeface="Montserrat"/>
                <a:ea typeface="Montserrat"/>
                <a:sym typeface="Montserrat"/>
              </a:rPr>
              <a:t>(Varón, 28, Canelones)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Citas por código</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Citas textuales, sin editar</a:t>
            </a:r>
          </a:p>
        </p:txBody>
      </p:sp>
      <p:sp>
        <p:nvSpPr>
          <p:cNvPr id="4" name=""/>
          <p:cNvSpPr>
            <a:spLocks noGrp="1"/>
          </p:cNvSpPr>
          <p:nvPr>
            <p:ph/>
          </p:nvPr>
        </p:nvSpPr>
        <p:spPr>
          <a:xfrm>
            <a:off x="548640" y="1234440"/>
            <a:ext cx="8046720" cy="3474720"/>
          </a:xfrm>
        </p:spPr>
        <p:txBody>
          <a:bodyPr/>
          <a:lstStyle/>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Vivienda digna</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“Una buena vida para mí sería: acceso a vivienda de calidad alimentos variados y a buen precio. Educación de calidad para mí hijo trabajo en condiciones acceso a la salud de calidad para mis seres queridos.” </a:t>
            </a:r>
            <a:r>
              <a:rPr cap="none" sz="1000" i="0" b="0" u="none">
                <a:solidFill>
                  <a:srgbClr val="5A6570">
                    <a:alpha val="100000"/>
                  </a:srgbClr>
                </a:solidFill>
                <a:latin typeface="Montserrat"/>
                <a:cs typeface="Montserrat"/>
                <a:ea typeface="Montserrat"/>
                <a:sym typeface="Montserrat"/>
              </a:rPr>
              <a:t>(Mujer, 35, Canelones)</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“Creo que buena vida es subjetivo y cambia dependiendo de cada individuo pero los puntos básicos creo que son acceso a una vivienda digna alimentación y socialización” </a:t>
            </a:r>
            <a:r>
              <a:rPr cap="none" sz="1000" i="0" b="0" u="none">
                <a:solidFill>
                  <a:srgbClr val="5A6570">
                    <a:alpha val="100000"/>
                  </a:srgbClr>
                </a:solidFill>
                <a:latin typeface="Montserrat"/>
                <a:cs typeface="Montserrat"/>
                <a:ea typeface="Montserrat"/>
                <a:sym typeface="Montserrat"/>
              </a:rPr>
              <a:t>(Varón, 22, Canelones)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548640" y="411480"/>
            <a:ext cx="8046720" cy="365760"/>
          </a:xfrm>
        </p:spPr>
        <p:txBody>
          <a:bodyPr/>
          <a:lstStyle/>
          <a:p>
            <a:pPr algn="l" marL="0" marR="0">
              <a:lnSpc>
                <a:spcPct val="120000"/>
              </a:lnSpc>
              <a:spcBef>
                <a:spcPts val="0"/>
              </a:spcBef>
              <a:spcAft>
                <a:spcPts val="0"/>
              </a:spcAft>
              <a:buNone/>
            </a:pPr>
            <a:r>
              <a:rPr cap="none" sz="1200" i="0" b="1" u="none">
                <a:solidFill>
                  <a:srgbClr val="5A6570">
                    <a:alpha val="100000"/>
                  </a:srgbClr>
                </a:solidFill>
                <a:latin typeface="Montserrat"/>
                <a:cs typeface="Montserrat"/>
                <a:ea typeface="Montserrat"/>
                <a:sym typeface="Montserrat"/>
              </a:rPr>
              <a:t>Módulo 3 · Q3</a:t>
            </a:r>
          </a:p>
        </p:txBody>
      </p:sp>
      <p:sp>
        <p:nvSpPr>
          <p:cNvPr id="3" name=""/>
          <p:cNvSpPr>
            <a:spLocks noGrp="1"/>
          </p:cNvSpPr>
          <p:nvPr>
            <p:ph/>
          </p:nvPr>
        </p:nvSpPr>
        <p:spPr>
          <a:xfrm>
            <a:off x="548640" y="1005840"/>
            <a:ext cx="8046720" cy="2560320"/>
          </a:xfrm>
        </p:spPr>
        <p:txBody>
          <a:bodyPr/>
          <a:lstStyle/>
          <a:p>
            <a:pPr algn="l" marL="0" marR="0">
              <a:lnSpc>
                <a:spcPct val="135000"/>
              </a:lnSpc>
              <a:spcBef>
                <a:spcPts val="0"/>
              </a:spcBef>
              <a:spcAft>
                <a:spcPts val="0"/>
              </a:spcAft>
              <a:buNone/>
            </a:pPr>
            <a:r>
              <a:rPr cap="none" sz="2000" i="0" b="0" u="none">
                <a:solidFill>
                  <a:srgbClr val="004A82">
                    <a:alpha val="100000"/>
                  </a:srgbClr>
                </a:solidFill>
                <a:latin typeface="Montserrat"/>
                <a:cs typeface="Montserrat"/>
                <a:ea typeface="Montserrat"/>
                <a:sym typeface="Montserrat"/>
              </a:rPr>
              <a:t>“Cuando tenés tiempo libre, ¿qué es lo que hacés con mayor frecuencia?, y ¿qué es lo que más te gustaría hacer?”</a:t>
            </a:r>
          </a:p>
        </p:txBody>
      </p:sp>
      <p:sp>
        <p:nvSpPr>
          <p:cNvPr id="4" name=""/>
          <p:cNvSpPr>
            <a:spLocks noGrp="1"/>
          </p:cNvSpPr>
          <p:nvPr>
            <p:ph/>
          </p:nvPr>
        </p:nvSpPr>
        <p:spPr>
          <a:xfrm>
            <a:off x="548640" y="4114800"/>
            <a:ext cx="8046720" cy="365760"/>
          </a:xfrm>
        </p:spPr>
        <p:txBody>
          <a:bodyPr/>
          <a:lstStyle/>
          <a:p>
            <a:pPr algn="l" marL="0" marR="0">
              <a:lnSpc>
                <a:spcPct val="120000"/>
              </a:lnSpc>
              <a:spcBef>
                <a:spcPts val="0"/>
              </a:spcBef>
              <a:spcAft>
                <a:spcPts val="0"/>
              </a:spcAft>
              <a:buNone/>
            </a:pPr>
            <a:r>
              <a:rPr cap="none" sz="1200" i="0" b="0" u="none">
                <a:solidFill>
                  <a:srgbClr val="5A6570">
                    <a:alpha val="100000"/>
                  </a:srgbClr>
                </a:solidFill>
                <a:latin typeface="Montserrat"/>
                <a:cs typeface="Montserrat"/>
                <a:ea typeface="Montserrat"/>
                <a:sym typeface="Montserrat"/>
              </a:rPr>
              <a:t>136 respuestas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Códigos asignados</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Frecuencia de menciones · 136 respuestas, hasta 3 códigos cada una</a:t>
            </a:r>
          </a:p>
        </p:txBody>
      </p:sp>
      <p:pic>
        <p:nvPicPr>
          <p:cNvPr id="4" name="" descr=""/>
          <p:cNvPicPr>
            <a:picLocks noGrp="1"/>
          </p:cNvPicPr>
          <p:nvPr>
            <p:ph/>
          </p:nvPr>
        </p:nvPicPr>
        <p:blipFill>
          <a:blip cstate="print" r:embed="rId2"/>
          <a:stretch>
            <a:fillRect/>
          </a:stretch>
        </p:blipFill>
        <p:spPr>
          <a:xfrm>
            <a:off x="548640" y="1234440"/>
            <a:ext cx="8046720" cy="3291840"/>
          </a:xfrm>
          <a:prstGeom prst="rect">
            <a:avLst/>
          </a:prstGeom>
        </p:spPr>
      </p:pic>
      <p:sp>
        <p:nvSpPr>
          <p:cNvPr id="5" name=""/>
          <p:cNvSpPr>
            <a:spLocks noGrp="1"/>
          </p:cNvSpPr>
          <p:nvPr>
            <p:ph/>
          </p:nvPr>
        </p:nvSpPr>
        <p:spPr>
          <a:xfrm>
            <a:off x="548640" y="4617720"/>
            <a:ext cx="8046720" cy="320040"/>
          </a:xfrm>
        </p:spPr>
        <p:txBody>
          <a:bodyPr/>
          <a:lstStyle/>
          <a:p>
            <a:pPr algn="l" marL="0" marR="0">
              <a:lnSpc>
                <a:spcPct val="120000"/>
              </a:lnSpc>
              <a:spcBef>
                <a:spcPts val="0"/>
              </a:spcBef>
              <a:spcAft>
                <a:spcPts val="0"/>
              </a:spcAft>
              <a:buNone/>
            </a:pPr>
            <a:r>
              <a:rPr cap="none" sz="900" i="1" b="0" u="none">
                <a:solidFill>
                  <a:srgbClr val="5A6570">
                    <a:alpha val="100000"/>
                  </a:srgbClr>
                </a:solidFill>
                <a:latin typeface="Montserrat"/>
                <a:cs typeface="Montserrat"/>
                <a:ea typeface="Montserrat"/>
                <a:sym typeface="Montserrat"/>
              </a:rPr>
              <a:t>El total de menciones supera al de respuestas porque una respuesta puede recibir más de un código.</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Códigos según edad</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Códigos con 5 o más menciones</a:t>
            </a:r>
          </a:p>
        </p:txBody>
      </p:sp>
      <p:pic>
        <p:nvPicPr>
          <p:cNvPr id="4" name="" descr=""/>
          <p:cNvPicPr>
            <a:picLocks noGrp="1"/>
          </p:cNvPicPr>
          <p:nvPr>
            <p:ph/>
          </p:nvPr>
        </p:nvPicPr>
        <p:blipFill>
          <a:blip cstate="print" r:embed="rId2"/>
          <a:stretch>
            <a:fillRect/>
          </a:stretch>
        </p:blipFill>
        <p:spPr>
          <a:xfrm>
            <a:off x="548640" y="1234440"/>
            <a:ext cx="8046720" cy="329184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Códigos según nivel educativo</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Códigos con 5 o más menciones</a:t>
            </a:r>
          </a:p>
        </p:txBody>
      </p:sp>
      <p:pic>
        <p:nvPicPr>
          <p:cNvPr id="4" name="" descr=""/>
          <p:cNvPicPr>
            <a:picLocks noGrp="1"/>
          </p:cNvPicPr>
          <p:nvPr>
            <p:ph/>
          </p:nvPr>
        </p:nvPicPr>
        <p:blipFill>
          <a:blip cstate="print" r:embed="rId2"/>
          <a:stretch>
            <a:fillRect/>
          </a:stretch>
        </p:blipFill>
        <p:spPr>
          <a:xfrm>
            <a:off x="548640" y="1234440"/>
            <a:ext cx="8046720" cy="329184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Correspondencias: códigos y edad</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Dim 1: 69.8% de la inercia · Dim 2: 23.7%</a:t>
            </a:r>
          </a:p>
        </p:txBody>
      </p:sp>
      <p:pic>
        <p:nvPicPr>
          <p:cNvPr id="4" name="" descr=""/>
          <p:cNvPicPr>
            <a:picLocks noGrp="1"/>
          </p:cNvPicPr>
          <p:nvPr>
            <p:ph/>
          </p:nvPr>
        </p:nvPicPr>
        <p:blipFill>
          <a:blip cstate="print" r:embed="rId2"/>
          <a:stretch>
            <a:fillRect/>
          </a:stretch>
        </p:blipFill>
        <p:spPr>
          <a:xfrm>
            <a:off x="548640" y="1234440"/>
            <a:ext cx="8046720" cy="3291840"/>
          </a:xfrm>
          <a:prstGeom prst="rect">
            <a:avLst/>
          </a:prstGeom>
        </p:spPr>
      </p:pic>
      <p:sp>
        <p:nvSpPr>
          <p:cNvPr id="5" name=""/>
          <p:cNvSpPr>
            <a:spLocks noGrp="1"/>
          </p:cNvSpPr>
          <p:nvPr>
            <p:ph/>
          </p:nvPr>
        </p:nvSpPr>
        <p:spPr>
          <a:xfrm>
            <a:off x="548640" y="4617720"/>
            <a:ext cx="8046720" cy="320040"/>
          </a:xfrm>
        </p:spPr>
        <p:txBody>
          <a:bodyPr/>
          <a:lstStyle/>
          <a:p>
            <a:pPr algn="l" marL="0" marR="0">
              <a:lnSpc>
                <a:spcPct val="120000"/>
              </a:lnSpc>
              <a:spcBef>
                <a:spcPts val="0"/>
              </a:spcBef>
              <a:spcAft>
                <a:spcPts val="0"/>
              </a:spcAft>
              <a:buNone/>
            </a:pPr>
            <a:r>
              <a:rPr cap="none" sz="900" i="1" b="0" u="none">
                <a:solidFill>
                  <a:srgbClr val="5A6570">
                    <a:alpha val="100000"/>
                  </a:srgbClr>
                </a:solidFill>
                <a:latin typeface="Montserrat"/>
                <a:cs typeface="Montserrat"/>
                <a:ea typeface="Montserrat"/>
                <a:sym typeface="Montserrat"/>
              </a:rPr>
              <a:t>La proximidad indica asociación entre un código y una categoría, no causalidad.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Citas por código</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Citas textuales, sin editar</a:t>
            </a:r>
          </a:p>
        </p:txBody>
      </p:sp>
      <p:sp>
        <p:nvSpPr>
          <p:cNvPr id="4" name=""/>
          <p:cNvSpPr>
            <a:spLocks noGrp="1"/>
          </p:cNvSpPr>
          <p:nvPr>
            <p:ph/>
          </p:nvPr>
        </p:nvSpPr>
        <p:spPr>
          <a:xfrm>
            <a:off x="548640" y="1234440"/>
            <a:ext cx="8046720" cy="3474720"/>
          </a:xfrm>
        </p:spPr>
        <p:txBody>
          <a:bodyPr/>
          <a:lstStyle/>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Salir pasear viajar</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“Soy Socia espectacular y voy a Cinemateca al teatro y al Sodre a ver conciertos ballet u óperas. Si no salgo veo tele youtube o Netflix” </a:t>
            </a:r>
            <a:r>
              <a:rPr cap="none" sz="1000" i="0" b="0" u="none">
                <a:solidFill>
                  <a:srgbClr val="5A6570">
                    <a:alpha val="100000"/>
                  </a:srgbClr>
                </a:solidFill>
                <a:latin typeface="Montserrat"/>
                <a:cs typeface="Montserrat"/>
                <a:ea typeface="Montserrat"/>
                <a:sym typeface="Montserrat"/>
              </a:rPr>
              <a:t>(Mujer, 78, Montevideo)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“Participar en actos de servicio a la comunidad es lo que hago con mayor frecuencia nCon menor frecuencia y me gustaría es viajar” </a:t>
            </a:r>
            <a:r>
              <a:rPr cap="none" sz="1000" i="0" b="0" u="none">
                <a:solidFill>
                  <a:srgbClr val="5A6570">
                    <a:alpha val="100000"/>
                  </a:srgbClr>
                </a:solidFill>
                <a:latin typeface="Montserrat"/>
                <a:cs typeface="Montserrat"/>
                <a:ea typeface="Montserrat"/>
                <a:sym typeface="Montserrat"/>
              </a:rPr>
              <a:t>(Mujer, 57, Interior)</a:t>
            </a:r>
          </a:p>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Familia y vinculos</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“Bueno, mi tiempo libre, yo trabajo a pesar de ser jubilada, tengo el bien emocionante una vez por semana, trato de estar en mi casa con mi esposo y los fines de semana ir a una iglesia cristiana y bueno, salimos muy poco.” </a:t>
            </a:r>
            <a:r>
              <a:rPr cap="none" sz="1000" i="0" b="0" u="none">
                <a:solidFill>
                  <a:srgbClr val="5A6570">
                    <a:alpha val="100000"/>
                  </a:srgbClr>
                </a:solidFill>
                <a:latin typeface="Montserrat"/>
                <a:cs typeface="Montserrat"/>
                <a:ea typeface="Montserrat"/>
                <a:sym typeface="Montserrat"/>
              </a:rPr>
              <a:t>(Mujer, 65, Montevideo)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“Leo y juego con mi hijo. Me gustaría aprender idiomas pero el tiempo no me lo permite.” </a:t>
            </a:r>
            <a:r>
              <a:rPr cap="none" sz="1000" i="0" b="0" u="none">
                <a:solidFill>
                  <a:srgbClr val="5A6570">
                    <a:alpha val="100000"/>
                  </a:srgbClr>
                </a:solidFill>
                <a:latin typeface="Montserrat"/>
                <a:cs typeface="Montserrat"/>
                <a:ea typeface="Montserrat"/>
                <a:sym typeface="Montserrat"/>
              </a:rPr>
              <a:t>(Mujer, 35, Canelones)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Citas por código</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Citas textuales, sin editar</a:t>
            </a:r>
          </a:p>
        </p:txBody>
      </p:sp>
      <p:sp>
        <p:nvSpPr>
          <p:cNvPr id="4" name=""/>
          <p:cNvSpPr>
            <a:spLocks noGrp="1"/>
          </p:cNvSpPr>
          <p:nvPr>
            <p:ph/>
          </p:nvPr>
        </p:nvSpPr>
        <p:spPr>
          <a:xfrm>
            <a:off x="548640" y="1234440"/>
            <a:ext cx="8046720" cy="3474720"/>
          </a:xfrm>
        </p:spPr>
        <p:txBody>
          <a:bodyPr/>
          <a:lstStyle/>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Naturaleza y aire libre</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“Me tomo una hora por día para caminar como gustarme son las termas en invierno y la playa en verano” </a:t>
            </a:r>
            <a:r>
              <a:rPr cap="none" sz="1000" i="0" b="0" u="none">
                <a:solidFill>
                  <a:srgbClr val="5A6570">
                    <a:alpha val="100000"/>
                  </a:srgbClr>
                </a:solidFill>
                <a:latin typeface="Montserrat"/>
                <a:cs typeface="Montserrat"/>
                <a:ea typeface="Montserrat"/>
                <a:sym typeface="Montserrat"/>
              </a:rPr>
              <a:t>(Mujer, 62, Montevideo)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“Me encanta ir para afuera disfruto de unos mates viendo el atardecer en la playa y mi familia. Soy feliz con eso.” </a:t>
            </a:r>
            <a:r>
              <a:rPr cap="none" sz="1000" i="0" b="0" u="none">
                <a:solidFill>
                  <a:srgbClr val="5A6570">
                    <a:alpha val="100000"/>
                  </a:srgbClr>
                </a:solidFill>
                <a:latin typeface="Montserrat"/>
                <a:cs typeface="Montserrat"/>
                <a:ea typeface="Montserrat"/>
                <a:sym typeface="Montserrat"/>
              </a:rPr>
              <a:t>(Mujer, 54, Canelones)</a:t>
            </a:r>
          </a:p>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Deporte y ejercicio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“Bueno, tiempo libre, en esta situación que estoy jubilada, significa poder tener actividad física, poder acceder a distintos espacios recreativos que brinde la ciudad, poder viajar y leer. Tener facilidades para acceder hoy a distintas formas de la lectura y también al teatro y al cine.” </a:t>
            </a:r>
            <a:r>
              <a:rPr cap="none" sz="1000" i="0" b="0" u="none">
                <a:solidFill>
                  <a:srgbClr val="5A6570">
                    <a:alpha val="100000"/>
                  </a:srgbClr>
                </a:solidFill>
                <a:latin typeface="Montserrat"/>
                <a:cs typeface="Montserrat"/>
                <a:ea typeface="Montserrat"/>
                <a:sym typeface="Montserrat"/>
              </a:rPr>
              <a:t>(Mujer, 67, Montevideo)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“En mi tiempo libre voy al gimnasio descanso o veo películas. nMe gustaría tener una buena economía para viajar” </a:t>
            </a:r>
            <a:r>
              <a:rPr cap="none" sz="1000" i="0" b="0" u="none">
                <a:solidFill>
                  <a:srgbClr val="5A6570">
                    <a:alpha val="100000"/>
                  </a:srgbClr>
                </a:solidFill>
                <a:latin typeface="Montserrat"/>
                <a:cs typeface="Montserrat"/>
                <a:ea typeface="Montserrat"/>
                <a:sym typeface="Montserrat"/>
              </a:rPr>
              <a:t>(Mujer, 41, Canelones)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Citas por código</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Citas textuales, sin editar</a:t>
            </a:r>
          </a:p>
        </p:txBody>
      </p:sp>
      <p:sp>
        <p:nvSpPr>
          <p:cNvPr id="4" name=""/>
          <p:cNvSpPr>
            <a:spLocks noGrp="1"/>
          </p:cNvSpPr>
          <p:nvPr>
            <p:ph/>
          </p:nvPr>
        </p:nvSpPr>
        <p:spPr>
          <a:xfrm>
            <a:off x="548640" y="1234440"/>
            <a:ext cx="8046720" cy="3474720"/>
          </a:xfrm>
        </p:spPr>
        <p:txBody>
          <a:bodyPr/>
          <a:lstStyle/>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Pantallas series redes</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“Me gusta mirar películas y salir a pasear con amigas. Viajar mas” </a:t>
            </a:r>
            <a:r>
              <a:rPr cap="none" sz="1000" i="0" b="0" u="none">
                <a:solidFill>
                  <a:srgbClr val="5A6570">
                    <a:alpha val="100000"/>
                  </a:srgbClr>
                </a:solidFill>
                <a:latin typeface="Montserrat"/>
                <a:cs typeface="Montserrat"/>
                <a:ea typeface="Montserrat"/>
                <a:sym typeface="Montserrat"/>
              </a:rPr>
              <a:t>(Mujer, 57, Montevideo)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“lamentablemente en mi tiempo libre estoy bastante consumida por las redes sociales y no hago mas que scrollear acostada pero me gustaría salir de ese ciclo para retomar mis hobbies” </a:t>
            </a:r>
            <a:r>
              <a:rPr cap="none" sz="1000" i="0" b="0" u="none">
                <a:solidFill>
                  <a:srgbClr val="5A6570">
                    <a:alpha val="100000"/>
                  </a:srgbClr>
                </a:solidFill>
                <a:latin typeface="Montserrat"/>
                <a:cs typeface="Montserrat"/>
                <a:ea typeface="Montserrat"/>
                <a:sym typeface="Montserrat"/>
              </a:rPr>
              <a:t>(Mujer, Interior)</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548640" y="411480"/>
            <a:ext cx="8046720" cy="365760"/>
          </a:xfrm>
        </p:spPr>
        <p:txBody>
          <a:bodyPr/>
          <a:lstStyle/>
          <a:p>
            <a:pPr algn="l" marL="0" marR="0">
              <a:lnSpc>
                <a:spcPct val="120000"/>
              </a:lnSpc>
              <a:spcBef>
                <a:spcPts val="0"/>
              </a:spcBef>
              <a:spcAft>
                <a:spcPts val="0"/>
              </a:spcAft>
              <a:buNone/>
            </a:pPr>
            <a:r>
              <a:rPr cap="none" sz="1200" i="0" b="1" u="none">
                <a:solidFill>
                  <a:srgbClr val="5A6570">
                    <a:alpha val="100000"/>
                  </a:srgbClr>
                </a:solidFill>
                <a:latin typeface="Montserrat"/>
                <a:cs typeface="Montserrat"/>
                <a:ea typeface="Montserrat"/>
                <a:sym typeface="Montserrat"/>
              </a:rPr>
              <a:t>Módulo 4 · Q5</a:t>
            </a:r>
          </a:p>
        </p:txBody>
      </p:sp>
      <p:sp>
        <p:nvSpPr>
          <p:cNvPr id="3" name=""/>
          <p:cNvSpPr>
            <a:spLocks noGrp="1"/>
          </p:cNvSpPr>
          <p:nvPr>
            <p:ph/>
          </p:nvPr>
        </p:nvSpPr>
        <p:spPr>
          <a:xfrm>
            <a:off x="548640" y="1005840"/>
            <a:ext cx="8046720" cy="2560320"/>
          </a:xfrm>
        </p:spPr>
        <p:txBody>
          <a:bodyPr/>
          <a:lstStyle/>
          <a:p>
            <a:pPr algn="l" marL="0" marR="0">
              <a:lnSpc>
                <a:spcPct val="135000"/>
              </a:lnSpc>
              <a:spcBef>
                <a:spcPts val="0"/>
              </a:spcBef>
              <a:spcAft>
                <a:spcPts val="0"/>
              </a:spcAft>
              <a:buNone/>
            </a:pPr>
            <a:r>
              <a:rPr cap="none" sz="2000" i="0" b="0" u="none">
                <a:solidFill>
                  <a:srgbClr val="004A82">
                    <a:alpha val="100000"/>
                  </a:srgbClr>
                </a:solidFill>
                <a:latin typeface="Montserrat"/>
                <a:cs typeface="Montserrat"/>
                <a:ea typeface="Montserrat"/>
                <a:sym typeface="Montserrat"/>
              </a:rPr>
              <a:t>“¿Por qué elegiste esa opción?”</a:t>
            </a:r>
          </a:p>
        </p:txBody>
      </p:sp>
      <p:sp>
        <p:nvSpPr>
          <p:cNvPr id="4" name=""/>
          <p:cNvSpPr>
            <a:spLocks noGrp="1"/>
          </p:cNvSpPr>
          <p:nvPr>
            <p:ph/>
          </p:nvPr>
        </p:nvSpPr>
        <p:spPr>
          <a:xfrm>
            <a:off x="548640" y="4114800"/>
            <a:ext cx="8046720" cy="365760"/>
          </a:xfrm>
        </p:spPr>
        <p:txBody>
          <a:bodyPr/>
          <a:lstStyle/>
          <a:p>
            <a:pPr algn="l" marL="0" marR="0">
              <a:lnSpc>
                <a:spcPct val="120000"/>
              </a:lnSpc>
              <a:spcBef>
                <a:spcPts val="0"/>
              </a:spcBef>
              <a:spcAft>
                <a:spcPts val="0"/>
              </a:spcAft>
              <a:buNone/>
            </a:pPr>
            <a:r>
              <a:rPr cap="none" sz="1200" i="0" b="0" u="none">
                <a:solidFill>
                  <a:srgbClr val="5A6570">
                    <a:alpha val="100000"/>
                  </a:srgbClr>
                </a:solidFill>
                <a:latin typeface="Montserrat"/>
                <a:cs typeface="Montserrat"/>
                <a:ea typeface="Montserrat"/>
                <a:sym typeface="Montserrat"/>
              </a:rPr>
              <a:t>129 respuestas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Códigos asignados</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Frecuencia de menciones · 129 respuestas, hasta 3 códigos cada una</a:t>
            </a:r>
          </a:p>
        </p:txBody>
      </p:sp>
      <p:pic>
        <p:nvPicPr>
          <p:cNvPr id="4" name="" descr=""/>
          <p:cNvPicPr>
            <a:picLocks noGrp="1"/>
          </p:cNvPicPr>
          <p:nvPr>
            <p:ph/>
          </p:nvPr>
        </p:nvPicPr>
        <p:blipFill>
          <a:blip cstate="print" r:embed="rId2"/>
          <a:stretch>
            <a:fillRect/>
          </a:stretch>
        </p:blipFill>
        <p:spPr>
          <a:xfrm>
            <a:off x="548640" y="1234440"/>
            <a:ext cx="8046720" cy="3291840"/>
          </a:xfrm>
          <a:prstGeom prst="rect">
            <a:avLst/>
          </a:prstGeom>
        </p:spPr>
      </p:pic>
      <p:sp>
        <p:nvSpPr>
          <p:cNvPr id="5" name=""/>
          <p:cNvSpPr>
            <a:spLocks noGrp="1"/>
          </p:cNvSpPr>
          <p:nvPr>
            <p:ph/>
          </p:nvPr>
        </p:nvSpPr>
        <p:spPr>
          <a:xfrm>
            <a:off x="548640" y="4617720"/>
            <a:ext cx="8046720" cy="320040"/>
          </a:xfrm>
        </p:spPr>
        <p:txBody>
          <a:bodyPr/>
          <a:lstStyle/>
          <a:p>
            <a:pPr algn="l" marL="0" marR="0">
              <a:lnSpc>
                <a:spcPct val="120000"/>
              </a:lnSpc>
              <a:spcBef>
                <a:spcPts val="0"/>
              </a:spcBef>
              <a:spcAft>
                <a:spcPts val="0"/>
              </a:spcAft>
              <a:buNone/>
            </a:pPr>
            <a:r>
              <a:rPr cap="none" sz="900" i="1" b="0" u="none">
                <a:solidFill>
                  <a:srgbClr val="5A6570">
                    <a:alpha val="100000"/>
                  </a:srgbClr>
                </a:solidFill>
                <a:latin typeface="Montserrat"/>
                <a:cs typeface="Montserrat"/>
                <a:ea typeface="Montserrat"/>
                <a:sym typeface="Montserrat"/>
              </a:rPr>
              <a:t>El total de menciones supera al de respuestas porque una respuesta puede recibir más de un código.</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Códigos según región</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Códigos con 5 o más menciones</a:t>
            </a:r>
          </a:p>
        </p:txBody>
      </p:sp>
      <p:pic>
        <p:nvPicPr>
          <p:cNvPr id="4" name="" descr=""/>
          <p:cNvPicPr>
            <a:picLocks noGrp="1"/>
          </p:cNvPicPr>
          <p:nvPr>
            <p:ph/>
          </p:nvPr>
        </p:nvPicPr>
        <p:blipFill>
          <a:blip cstate="print" r:embed="rId2"/>
          <a:stretch>
            <a:fillRect/>
          </a:stretch>
        </p:blipFill>
        <p:spPr>
          <a:xfrm>
            <a:off x="548640" y="1234440"/>
            <a:ext cx="8046720" cy="329184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Códigos según edad</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Códigos con 5 o más menciones</a:t>
            </a:r>
          </a:p>
        </p:txBody>
      </p:sp>
      <p:pic>
        <p:nvPicPr>
          <p:cNvPr id="4" name="" descr=""/>
          <p:cNvPicPr>
            <a:picLocks noGrp="1"/>
          </p:cNvPicPr>
          <p:nvPr>
            <p:ph/>
          </p:nvPr>
        </p:nvPicPr>
        <p:blipFill>
          <a:blip cstate="print" r:embed="rId2"/>
          <a:stretch>
            <a:fillRect/>
          </a:stretch>
        </p:blipFill>
        <p:spPr>
          <a:xfrm>
            <a:off x="548640" y="1234440"/>
            <a:ext cx="8046720" cy="329184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Correspondencias: códigos y región</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Dim 1: 79.5% de la inercia · Dim 2: 20.5%</a:t>
            </a:r>
          </a:p>
        </p:txBody>
      </p:sp>
      <p:pic>
        <p:nvPicPr>
          <p:cNvPr id="4" name="" descr=""/>
          <p:cNvPicPr>
            <a:picLocks noGrp="1"/>
          </p:cNvPicPr>
          <p:nvPr>
            <p:ph/>
          </p:nvPr>
        </p:nvPicPr>
        <p:blipFill>
          <a:blip cstate="print" r:embed="rId2"/>
          <a:stretch>
            <a:fillRect/>
          </a:stretch>
        </p:blipFill>
        <p:spPr>
          <a:xfrm>
            <a:off x="548640" y="1234440"/>
            <a:ext cx="8046720" cy="3291840"/>
          </a:xfrm>
          <a:prstGeom prst="rect">
            <a:avLst/>
          </a:prstGeom>
        </p:spPr>
      </p:pic>
      <p:sp>
        <p:nvSpPr>
          <p:cNvPr id="5" name=""/>
          <p:cNvSpPr>
            <a:spLocks noGrp="1"/>
          </p:cNvSpPr>
          <p:nvPr>
            <p:ph/>
          </p:nvPr>
        </p:nvSpPr>
        <p:spPr>
          <a:xfrm>
            <a:off x="548640" y="4617720"/>
            <a:ext cx="8046720" cy="320040"/>
          </a:xfrm>
        </p:spPr>
        <p:txBody>
          <a:bodyPr/>
          <a:lstStyle/>
          <a:p>
            <a:pPr algn="l" marL="0" marR="0">
              <a:lnSpc>
                <a:spcPct val="120000"/>
              </a:lnSpc>
              <a:spcBef>
                <a:spcPts val="0"/>
              </a:spcBef>
              <a:spcAft>
                <a:spcPts val="0"/>
              </a:spcAft>
              <a:buNone/>
            </a:pPr>
            <a:r>
              <a:rPr cap="none" sz="900" i="1" b="0" u="none">
                <a:solidFill>
                  <a:srgbClr val="5A6570">
                    <a:alpha val="100000"/>
                  </a:srgbClr>
                </a:solidFill>
                <a:latin typeface="Montserrat"/>
                <a:cs typeface="Montserrat"/>
                <a:ea typeface="Montserrat"/>
                <a:sym typeface="Montserrat"/>
              </a:rPr>
              <a:t>La proximidad indica asociación entre un código y una categoría, no causalidad.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Citas por código</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Citas textuales, sin editar</a:t>
            </a:r>
          </a:p>
        </p:txBody>
      </p:sp>
      <p:sp>
        <p:nvSpPr>
          <p:cNvPr id="4" name=""/>
          <p:cNvSpPr>
            <a:spLocks noGrp="1"/>
          </p:cNvSpPr>
          <p:nvPr>
            <p:ph/>
          </p:nvPr>
        </p:nvSpPr>
        <p:spPr>
          <a:xfrm>
            <a:off x="548640" y="1234440"/>
            <a:ext cx="8046720" cy="3474720"/>
          </a:xfrm>
        </p:spPr>
        <p:txBody>
          <a:bodyPr/>
          <a:lstStyle/>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Igualdad y distribucion</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“Porque plantea que si hay, tiene buenas condiciones de vida, quiere decir que seguramente eso hace a que están resueltas varios elementos básicos de la vida de las personas, pero fundamentalmente porque aparece la palabra desigualdad y eso pone a una población, una mirada de una población con igualdad. Creo que fundamentalmente por eso.” </a:t>
            </a:r>
            <a:r>
              <a:rPr cap="none" sz="1000" i="0" b="0" u="none">
                <a:solidFill>
                  <a:srgbClr val="5A6570">
                    <a:alpha val="100000"/>
                  </a:srgbClr>
                </a:solidFill>
                <a:latin typeface="Montserrat"/>
                <a:cs typeface="Montserrat"/>
                <a:ea typeface="Montserrat"/>
                <a:sym typeface="Montserrat"/>
              </a:rPr>
              <a:t>(Mujer, 67, Montevideo)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“Porque dice : que l población tiene buenas condiciones de vida lo que requiere un poco de las otras opciones como economía sólida y estable y prioriza la igualdad de condiciones” </a:t>
            </a:r>
            <a:r>
              <a:rPr cap="none" sz="1000" i="0" b="0" u="none">
                <a:solidFill>
                  <a:srgbClr val="5A6570">
                    <a:alpha val="100000"/>
                  </a:srgbClr>
                </a:solidFill>
                <a:latin typeface="Montserrat"/>
                <a:cs typeface="Montserrat"/>
                <a:ea typeface="Montserrat"/>
                <a:sym typeface="Montserrat"/>
              </a:rPr>
              <a:t>(Mujer, 42, Canelones)</a:t>
            </a:r>
          </a:p>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Bienestar y calidad de vida</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“Porque es lo primero que se debe tener para que la calidad de vida sea buena” </a:t>
            </a:r>
            <a:r>
              <a:rPr cap="none" sz="1000" i="0" b="0" u="none">
                <a:solidFill>
                  <a:srgbClr val="5A6570">
                    <a:alpha val="100000"/>
                  </a:srgbClr>
                </a:solidFill>
                <a:latin typeface="Montserrat"/>
                <a:cs typeface="Montserrat"/>
                <a:ea typeface="Montserrat"/>
                <a:sym typeface="Montserrat"/>
              </a:rPr>
              <a:t>(Mujer, 36, Montevideo)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“porque mejorar la vida de la población siempre debería ser el camino” </a:t>
            </a:r>
            <a:r>
              <a:rPr cap="none" sz="1000" i="0" b="0" u="none">
                <a:solidFill>
                  <a:srgbClr val="5A6570">
                    <a:alpha val="100000"/>
                  </a:srgbClr>
                </a:solidFill>
                <a:latin typeface="Montserrat"/>
                <a:cs typeface="Montserrat"/>
                <a:ea typeface="Montserrat"/>
                <a:sym typeface="Montserrat"/>
              </a:rPr>
              <a:t>(Mujer, Interior)</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Citas por código</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Citas textuales, sin editar</a:t>
            </a:r>
          </a:p>
        </p:txBody>
      </p:sp>
      <p:sp>
        <p:nvSpPr>
          <p:cNvPr id="4" name=""/>
          <p:cNvSpPr>
            <a:spLocks noGrp="1"/>
          </p:cNvSpPr>
          <p:nvPr>
            <p:ph/>
          </p:nvPr>
        </p:nvSpPr>
        <p:spPr>
          <a:xfrm>
            <a:off x="548640" y="1234440"/>
            <a:ext cx="8046720" cy="3474720"/>
          </a:xfrm>
        </p:spPr>
        <p:txBody>
          <a:bodyPr/>
          <a:lstStyle/>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Economia produccion empleo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“Porque en los países que no están desarrollados la tasa de empleabilidad es cada vez más baja” </a:t>
            </a:r>
            <a:r>
              <a:rPr cap="none" sz="1000" i="0" b="0" u="none">
                <a:solidFill>
                  <a:srgbClr val="5A6570">
                    <a:alpha val="100000"/>
                  </a:srgbClr>
                </a:solidFill>
                <a:latin typeface="Montserrat"/>
                <a:cs typeface="Montserrat"/>
                <a:ea typeface="Montserrat"/>
                <a:sym typeface="Montserrat"/>
              </a:rPr>
              <a:t>(Mujer, 24, Montevideo)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“Un país sólido económicamente y con empleo para su gente es dignificante y por ende hace a su gente más feliz y los mantiene ocupados en progresar y desarrollarse en lo que les guste.” </a:t>
            </a:r>
            <a:r>
              <a:rPr cap="none" sz="1000" i="0" b="0" u="none">
                <a:solidFill>
                  <a:srgbClr val="5A6570">
                    <a:alpha val="100000"/>
                  </a:srgbClr>
                </a:solidFill>
                <a:latin typeface="Montserrat"/>
                <a:cs typeface="Montserrat"/>
                <a:ea typeface="Montserrat"/>
                <a:sym typeface="Montserrat"/>
              </a:rPr>
              <a:t>(Mujer, 54, Canelones)</a:t>
            </a:r>
          </a:p>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Sostenibilidad ambiental</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“Elegi la 3 aunque entiendo que la opción 1 es la mas adecuada porque creo que para que exista desarrollo real deben implicarse medidas de cuidado ambiental.” </a:t>
            </a:r>
            <a:r>
              <a:rPr cap="none" sz="1000" i="0" b="0" u="none">
                <a:solidFill>
                  <a:srgbClr val="5A6570">
                    <a:alpha val="100000"/>
                  </a:srgbClr>
                </a:solidFill>
                <a:latin typeface="Montserrat"/>
                <a:cs typeface="Montserrat"/>
                <a:ea typeface="Montserrat"/>
                <a:sym typeface="Montserrat"/>
              </a:rPr>
              <a:t>(Mujer, 38, Montevideo)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“Porque la estabilidad y la proyección a futuro son pilares fundamentales” </a:t>
            </a:r>
            <a:r>
              <a:rPr cap="none" sz="1000" i="0" b="0" u="none">
                <a:solidFill>
                  <a:srgbClr val="5A6570">
                    <a:alpha val="100000"/>
                  </a:srgbClr>
                </a:solidFill>
                <a:latin typeface="Montserrat"/>
                <a:cs typeface="Montserrat"/>
                <a:ea typeface="Montserrat"/>
                <a:sym typeface="Montserrat"/>
              </a:rPr>
              <a:t>(Mujer, 29, Interior)</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Citas por código</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Citas textuales, sin editar</a:t>
            </a:r>
          </a:p>
        </p:txBody>
      </p:sp>
      <p:sp>
        <p:nvSpPr>
          <p:cNvPr id="4" name=""/>
          <p:cNvSpPr>
            <a:spLocks noGrp="1"/>
          </p:cNvSpPr>
          <p:nvPr>
            <p:ph/>
          </p:nvPr>
        </p:nvSpPr>
        <p:spPr>
          <a:xfrm>
            <a:off x="548640" y="1234440"/>
            <a:ext cx="8046720" cy="3474720"/>
          </a:xfrm>
        </p:spPr>
        <p:txBody>
          <a:bodyPr/>
          <a:lstStyle/>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Derechos y oportunidades</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“Porque el tema de la desigualdad social quita oportunidades a personas muy capaces que hoy no pueden mostrar lo que pueden aportar” </a:t>
            </a:r>
            <a:r>
              <a:rPr cap="none" sz="1000" i="0" b="0" u="none">
                <a:solidFill>
                  <a:srgbClr val="5A6570">
                    <a:alpha val="100000"/>
                  </a:srgbClr>
                </a:solidFill>
                <a:latin typeface="Montserrat"/>
                <a:cs typeface="Montserrat"/>
                <a:ea typeface="Montserrat"/>
                <a:sym typeface="Montserrat"/>
              </a:rPr>
              <a:t>(Mujer, 47, Montevideo)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“Por que pienso así por qué si piensa en que tengas la libertad de crecer y trabajar en lo que te gusta y no en lo que haya más demanda. En país que te da esa posibilidad de deaarrollarte así como persona es un país desarrollado” </a:t>
            </a:r>
            <a:r>
              <a:rPr cap="none" sz="1000" i="0" b="0" u="none">
                <a:solidFill>
                  <a:srgbClr val="5A6570">
                    <a:alpha val="100000"/>
                  </a:srgbClr>
                </a:solidFill>
                <a:latin typeface="Montserrat"/>
                <a:cs typeface="Montserrat"/>
                <a:ea typeface="Montserrat"/>
                <a:sym typeface="Montserrat"/>
              </a:rPr>
              <a:t>(Mujer, 59, Canelones)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548640" y="411480"/>
            <a:ext cx="8046720" cy="365760"/>
          </a:xfrm>
        </p:spPr>
        <p:txBody>
          <a:bodyPr/>
          <a:lstStyle/>
          <a:p>
            <a:pPr algn="l" marL="0" marR="0">
              <a:lnSpc>
                <a:spcPct val="120000"/>
              </a:lnSpc>
              <a:spcBef>
                <a:spcPts val="0"/>
              </a:spcBef>
              <a:spcAft>
                <a:spcPts val="0"/>
              </a:spcAft>
              <a:buNone/>
            </a:pPr>
            <a:r>
              <a:rPr cap="none" sz="1200" i="0" b="1" u="none">
                <a:solidFill>
                  <a:srgbClr val="5A6570">
                    <a:alpha val="100000"/>
                  </a:srgbClr>
                </a:solidFill>
                <a:latin typeface="Montserrat"/>
                <a:cs typeface="Montserrat"/>
                <a:ea typeface="Montserrat"/>
                <a:sym typeface="Montserrat"/>
              </a:rPr>
              <a:t>Módulo 5 · Q6</a:t>
            </a:r>
          </a:p>
        </p:txBody>
      </p:sp>
      <p:sp>
        <p:nvSpPr>
          <p:cNvPr id="3" name=""/>
          <p:cNvSpPr>
            <a:spLocks noGrp="1"/>
          </p:cNvSpPr>
          <p:nvPr>
            <p:ph/>
          </p:nvPr>
        </p:nvSpPr>
        <p:spPr>
          <a:xfrm>
            <a:off x="548640" y="1005840"/>
            <a:ext cx="8046720" cy="2560320"/>
          </a:xfrm>
        </p:spPr>
        <p:txBody>
          <a:bodyPr/>
          <a:lstStyle/>
          <a:p>
            <a:pPr algn="l" marL="0" marR="0">
              <a:lnSpc>
                <a:spcPct val="135000"/>
              </a:lnSpc>
              <a:spcBef>
                <a:spcPts val="0"/>
              </a:spcBef>
              <a:spcAft>
                <a:spcPts val="0"/>
              </a:spcAft>
              <a:buNone/>
            </a:pPr>
            <a:r>
              <a:rPr cap="none" sz="2000" i="0" b="0" u="none">
                <a:solidFill>
                  <a:srgbClr val="004A82">
                    <a:alpha val="100000"/>
                  </a:srgbClr>
                </a:solidFill>
                <a:latin typeface="Montserrat"/>
                <a:cs typeface="Montserrat"/>
                <a:ea typeface="Montserrat"/>
                <a:sym typeface="Montserrat"/>
              </a:rPr>
              <a:t>“¿Para qué cosas te parece importante que exista el Estado? ¿Cuáles considerás que son sus funciones?”</a:t>
            </a:r>
          </a:p>
        </p:txBody>
      </p:sp>
      <p:sp>
        <p:nvSpPr>
          <p:cNvPr id="4" name=""/>
          <p:cNvSpPr>
            <a:spLocks noGrp="1"/>
          </p:cNvSpPr>
          <p:nvPr>
            <p:ph/>
          </p:nvPr>
        </p:nvSpPr>
        <p:spPr>
          <a:xfrm>
            <a:off x="548640" y="4114800"/>
            <a:ext cx="8046720" cy="365760"/>
          </a:xfrm>
        </p:spPr>
        <p:txBody>
          <a:bodyPr/>
          <a:lstStyle/>
          <a:p>
            <a:pPr algn="l" marL="0" marR="0">
              <a:lnSpc>
                <a:spcPct val="120000"/>
              </a:lnSpc>
              <a:spcBef>
                <a:spcPts val="0"/>
              </a:spcBef>
              <a:spcAft>
                <a:spcPts val="0"/>
              </a:spcAft>
              <a:buNone/>
            </a:pPr>
            <a:r>
              <a:rPr cap="none" sz="1200" i="0" b="0" u="none">
                <a:solidFill>
                  <a:srgbClr val="5A6570">
                    <a:alpha val="100000"/>
                  </a:srgbClr>
                </a:solidFill>
                <a:latin typeface="Montserrat"/>
                <a:cs typeface="Montserrat"/>
                <a:ea typeface="Montserrat"/>
                <a:sym typeface="Montserrat"/>
              </a:rPr>
              <a:t>124 respuestas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Códigos asignados</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Frecuencia de menciones · 124 respuestas, hasta 3 códigos cada una</a:t>
            </a:r>
          </a:p>
        </p:txBody>
      </p:sp>
      <p:pic>
        <p:nvPicPr>
          <p:cNvPr id="4" name="" descr=""/>
          <p:cNvPicPr>
            <a:picLocks noGrp="1"/>
          </p:cNvPicPr>
          <p:nvPr>
            <p:ph/>
          </p:nvPr>
        </p:nvPicPr>
        <p:blipFill>
          <a:blip cstate="print" r:embed="rId2"/>
          <a:stretch>
            <a:fillRect/>
          </a:stretch>
        </p:blipFill>
        <p:spPr>
          <a:xfrm>
            <a:off x="548640" y="1234440"/>
            <a:ext cx="8046720" cy="3291840"/>
          </a:xfrm>
          <a:prstGeom prst="rect">
            <a:avLst/>
          </a:prstGeom>
        </p:spPr>
      </p:pic>
      <p:sp>
        <p:nvSpPr>
          <p:cNvPr id="5" name=""/>
          <p:cNvSpPr>
            <a:spLocks noGrp="1"/>
          </p:cNvSpPr>
          <p:nvPr>
            <p:ph/>
          </p:nvPr>
        </p:nvSpPr>
        <p:spPr>
          <a:xfrm>
            <a:off x="548640" y="4617720"/>
            <a:ext cx="8046720" cy="320040"/>
          </a:xfrm>
        </p:spPr>
        <p:txBody>
          <a:bodyPr/>
          <a:lstStyle/>
          <a:p>
            <a:pPr algn="l" marL="0" marR="0">
              <a:lnSpc>
                <a:spcPct val="120000"/>
              </a:lnSpc>
              <a:spcBef>
                <a:spcPts val="0"/>
              </a:spcBef>
              <a:spcAft>
                <a:spcPts val="0"/>
              </a:spcAft>
              <a:buNone/>
            </a:pPr>
            <a:r>
              <a:rPr cap="none" sz="900" i="1" b="0" u="none">
                <a:solidFill>
                  <a:srgbClr val="5A6570">
                    <a:alpha val="100000"/>
                  </a:srgbClr>
                </a:solidFill>
                <a:latin typeface="Montserrat"/>
                <a:cs typeface="Montserrat"/>
                <a:ea typeface="Montserrat"/>
                <a:sym typeface="Montserrat"/>
              </a:rPr>
              <a:t>El total de menciones supera al de respuestas porque una respuesta puede recibir más de un código.</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Códigos según voto 2024</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Códigos con 5 o más menciones</a:t>
            </a:r>
          </a:p>
        </p:txBody>
      </p:sp>
      <p:pic>
        <p:nvPicPr>
          <p:cNvPr id="4" name="" descr=""/>
          <p:cNvPicPr>
            <a:picLocks noGrp="1"/>
          </p:cNvPicPr>
          <p:nvPr>
            <p:ph/>
          </p:nvPr>
        </p:nvPicPr>
        <p:blipFill>
          <a:blip cstate="print" r:embed="rId2"/>
          <a:stretch>
            <a:fillRect/>
          </a:stretch>
        </p:blipFill>
        <p:spPr>
          <a:xfrm>
            <a:off x="548640" y="1234440"/>
            <a:ext cx="8046720" cy="329184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Códigos según edad</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Códigos con 5 o más menciones</a:t>
            </a:r>
          </a:p>
        </p:txBody>
      </p:sp>
      <p:pic>
        <p:nvPicPr>
          <p:cNvPr id="4" name="" descr=""/>
          <p:cNvPicPr>
            <a:picLocks noGrp="1"/>
          </p:cNvPicPr>
          <p:nvPr>
            <p:ph/>
          </p:nvPr>
        </p:nvPicPr>
        <p:blipFill>
          <a:blip cstate="print" r:embed="rId2"/>
          <a:stretch>
            <a:fillRect/>
          </a:stretch>
        </p:blipFill>
        <p:spPr>
          <a:xfrm>
            <a:off x="548640" y="1234440"/>
            <a:ext cx="8046720" cy="329184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Correspondencias: códigos y voto 2024</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Dim 1: 52.7% de la inercia · Dim 2: 31.2%</a:t>
            </a:r>
          </a:p>
        </p:txBody>
      </p:sp>
      <p:pic>
        <p:nvPicPr>
          <p:cNvPr id="4" name="" descr=""/>
          <p:cNvPicPr>
            <a:picLocks noGrp="1"/>
          </p:cNvPicPr>
          <p:nvPr>
            <p:ph/>
          </p:nvPr>
        </p:nvPicPr>
        <p:blipFill>
          <a:blip cstate="print" r:embed="rId2"/>
          <a:stretch>
            <a:fillRect/>
          </a:stretch>
        </p:blipFill>
        <p:spPr>
          <a:xfrm>
            <a:off x="548640" y="1234440"/>
            <a:ext cx="8046720" cy="3291840"/>
          </a:xfrm>
          <a:prstGeom prst="rect">
            <a:avLst/>
          </a:prstGeom>
        </p:spPr>
      </p:pic>
      <p:sp>
        <p:nvSpPr>
          <p:cNvPr id="5" name=""/>
          <p:cNvSpPr>
            <a:spLocks noGrp="1"/>
          </p:cNvSpPr>
          <p:nvPr>
            <p:ph/>
          </p:nvPr>
        </p:nvSpPr>
        <p:spPr>
          <a:xfrm>
            <a:off x="548640" y="4617720"/>
            <a:ext cx="8046720" cy="320040"/>
          </a:xfrm>
        </p:spPr>
        <p:txBody>
          <a:bodyPr/>
          <a:lstStyle/>
          <a:p>
            <a:pPr algn="l" marL="0" marR="0">
              <a:lnSpc>
                <a:spcPct val="120000"/>
              </a:lnSpc>
              <a:spcBef>
                <a:spcPts val="0"/>
              </a:spcBef>
              <a:spcAft>
                <a:spcPts val="0"/>
              </a:spcAft>
              <a:buNone/>
            </a:pPr>
            <a:r>
              <a:rPr cap="none" sz="900" i="1" b="0" u="none">
                <a:solidFill>
                  <a:srgbClr val="5A6570">
                    <a:alpha val="100000"/>
                  </a:srgbClr>
                </a:solidFill>
                <a:latin typeface="Montserrat"/>
                <a:cs typeface="Montserrat"/>
                <a:ea typeface="Montserrat"/>
                <a:sym typeface="Montserrat"/>
              </a:rPr>
              <a:t>La proximidad indica asociación entre un código y una categoría, no causalidad.</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Citas por código</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Citas textuales, sin editar</a:t>
            </a:r>
          </a:p>
        </p:txBody>
      </p:sp>
      <p:sp>
        <p:nvSpPr>
          <p:cNvPr id="4" name=""/>
          <p:cNvSpPr>
            <a:spLocks noGrp="1"/>
          </p:cNvSpPr>
          <p:nvPr>
            <p:ph/>
          </p:nvPr>
        </p:nvSpPr>
        <p:spPr>
          <a:xfrm>
            <a:off x="548640" y="1234440"/>
            <a:ext cx="8046720" cy="3474720"/>
          </a:xfrm>
        </p:spPr>
        <p:txBody>
          <a:bodyPr/>
          <a:lstStyle/>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Garantizar derechos sociales</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“Tarea del Estado es la educación la salud la seguridad los cuidados vivienda etc” </a:t>
            </a:r>
            <a:r>
              <a:rPr cap="none" sz="1000" i="0" b="0" u="none">
                <a:solidFill>
                  <a:srgbClr val="5A6570">
                    <a:alpha val="100000"/>
                  </a:srgbClr>
                </a:solidFill>
                <a:latin typeface="Montserrat"/>
                <a:cs typeface="Montserrat"/>
                <a:ea typeface="Montserrat"/>
                <a:sym typeface="Montserrat"/>
              </a:rPr>
              <a:t>(Mujer, 67, Montevideo)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“El Estado es fundamental para garantizar el bien común y la convivencia ordenada. Sus funciones principales incluyen mantener la seguridad administrar la justicia proveer servicios básicos (como salud y educación) construir infraestructura regular la economía y proteger los derechos fundamentales de los ciudadanos dentro de su territorio” </a:t>
            </a:r>
            <a:r>
              <a:rPr cap="none" sz="1000" i="0" b="0" u="none">
                <a:solidFill>
                  <a:srgbClr val="5A6570">
                    <a:alpha val="100000"/>
                  </a:srgbClr>
                </a:solidFill>
                <a:latin typeface="Montserrat"/>
                <a:cs typeface="Montserrat"/>
                <a:ea typeface="Montserrat"/>
                <a:sym typeface="Montserrat"/>
              </a:rPr>
              <a:t>(Mujer, 41, Canelones)</a:t>
            </a:r>
          </a:p>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Seguridad y justicia</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“Es importante para mí para garantizar la justicia el bienestar común organiza a una sociedad para la convivencia y derechos básicos entre algunas cosas” </a:t>
            </a:r>
            <a:r>
              <a:rPr cap="none" sz="1000" i="0" b="0" u="none">
                <a:solidFill>
                  <a:srgbClr val="5A6570">
                    <a:alpha val="100000"/>
                  </a:srgbClr>
                </a:solidFill>
                <a:latin typeface="Montserrat"/>
                <a:cs typeface="Montserrat"/>
                <a:ea typeface="Montserrat"/>
                <a:sym typeface="Montserrat"/>
              </a:rPr>
              <a:t>(Mujer, 57, Montevideo)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“Para hacer valer los derechos como ciudadanos y organizar y distribuir correctamente las riquezas del pais(se vale soñar) . Además de generar normas para que exista una convivencia de forma ordenada con reglas que garanticen el orden seguridad protección de todos los ciudadanos” </a:t>
            </a:r>
            <a:r>
              <a:rPr cap="none" sz="1000" i="0" b="0" u="none">
                <a:solidFill>
                  <a:srgbClr val="5A6570">
                    <a:alpha val="100000"/>
                  </a:srgbClr>
                </a:solidFill>
                <a:latin typeface="Montserrat"/>
                <a:cs typeface="Montserrat"/>
                <a:ea typeface="Montserrat"/>
                <a:sym typeface="Montserrat"/>
              </a:rPr>
              <a:t>(Mujer, 42, Canelones)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Citas por código</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Citas textuales, sin editar</a:t>
            </a:r>
          </a:p>
        </p:txBody>
      </p:sp>
      <p:sp>
        <p:nvSpPr>
          <p:cNvPr id="4" name=""/>
          <p:cNvSpPr>
            <a:spLocks noGrp="1"/>
          </p:cNvSpPr>
          <p:nvPr>
            <p:ph/>
          </p:nvPr>
        </p:nvSpPr>
        <p:spPr>
          <a:xfrm>
            <a:off x="548640" y="1234440"/>
            <a:ext cx="8046720" cy="3474720"/>
          </a:xfrm>
        </p:spPr>
        <p:txBody>
          <a:bodyPr/>
          <a:lstStyle/>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Reducir desigualdades</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“Velar por su población que pueda vivir de su trabajo sin violencia y en igualdad de condiciones sin importar su estatus social” </a:t>
            </a:r>
            <a:r>
              <a:rPr cap="none" sz="1000" i="0" b="0" u="none">
                <a:solidFill>
                  <a:srgbClr val="5A6570">
                    <a:alpha val="100000"/>
                  </a:srgbClr>
                </a:solidFill>
                <a:latin typeface="Montserrat"/>
                <a:cs typeface="Montserrat"/>
                <a:ea typeface="Montserrat"/>
                <a:sym typeface="Montserrat"/>
              </a:rPr>
              <a:t>(Mujer, 68, Montevideo)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“Sería importante q priorizaran a la clase obrera y no al vago q vive de planes” </a:t>
            </a:r>
            <a:r>
              <a:rPr cap="none" sz="1000" i="0" b="0" u="none">
                <a:solidFill>
                  <a:srgbClr val="5A6570">
                    <a:alpha val="100000"/>
                  </a:srgbClr>
                </a:solidFill>
                <a:latin typeface="Montserrat"/>
                <a:cs typeface="Montserrat"/>
                <a:ea typeface="Montserrat"/>
                <a:sym typeface="Montserrat"/>
              </a:rPr>
              <a:t>(Mujer, 40, Canelones)</a:t>
            </a:r>
          </a:p>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Administrar y organizar</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“Y el Estado, pienso que somos todos, pero el Estado es el que tiene que organizar la salud, la educación, la seguridad de toda la población, el que tiene que organizar también las leyes, el territorio, o sea, pienso que sería el que organiza, organiza, o sea, por medio del jefe de Estado y todos los políticos que se supone que son los que están a cargo.” </a:t>
            </a:r>
            <a:r>
              <a:rPr cap="none" sz="1000" i="0" b="0" u="none">
                <a:solidFill>
                  <a:srgbClr val="5A6570">
                    <a:alpha val="100000"/>
                  </a:srgbClr>
                </a:solidFill>
                <a:latin typeface="Montserrat"/>
                <a:cs typeface="Montserrat"/>
                <a:ea typeface="Montserrat"/>
                <a:sym typeface="Montserrat"/>
              </a:rPr>
              <a:t>(Mujer, 71, Montevideo)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“Para que haya un orden y este sea respetado sin sobrepasar los límites impuestos a todos los ciudadanos. Administrar los bienes del país sin meter la mano y sin mantener zánganos. Donde se priorice la convivencia el orden y respeto. Entre los ciudadanos” </a:t>
            </a:r>
            <a:r>
              <a:rPr cap="none" sz="1000" i="0" b="0" u="none">
                <a:solidFill>
                  <a:srgbClr val="5A6570">
                    <a:alpha val="100000"/>
                  </a:srgbClr>
                </a:solidFill>
                <a:latin typeface="Montserrat"/>
                <a:cs typeface="Montserrat"/>
                <a:ea typeface="Montserrat"/>
                <a:sym typeface="Montserrat"/>
              </a:rPr>
              <a:t>(Mujer, 59, Canelones)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Citas por código</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Citas textuales, sin editar</a:t>
            </a:r>
          </a:p>
        </p:txBody>
      </p:sp>
      <p:sp>
        <p:nvSpPr>
          <p:cNvPr id="4" name=""/>
          <p:cNvSpPr>
            <a:spLocks noGrp="1"/>
          </p:cNvSpPr>
          <p:nvPr>
            <p:ph/>
          </p:nvPr>
        </p:nvSpPr>
        <p:spPr>
          <a:xfrm>
            <a:off x="548640" y="1234440"/>
            <a:ext cx="8046720" cy="3474720"/>
          </a:xfrm>
        </p:spPr>
        <p:txBody>
          <a:bodyPr/>
          <a:lstStyle/>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Control y cumplimiento de la ley</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“La verdad a esta altura nose para que por que constantemente veo que se violan las leyes no es seguro confiar en el estado” </a:t>
            </a:r>
            <a:r>
              <a:rPr cap="none" sz="1000" i="0" b="0" u="none">
                <a:solidFill>
                  <a:srgbClr val="5A6570">
                    <a:alpha val="100000"/>
                  </a:srgbClr>
                </a:solidFill>
                <a:latin typeface="Montserrat"/>
                <a:cs typeface="Montserrat"/>
                <a:ea typeface="Montserrat"/>
                <a:sym typeface="Montserrat"/>
              </a:rPr>
              <a:t>(Mujer, 40, Montevideo)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“Regular el comportamiento de la población hacer que se respete la ley y a la soberanía hacer valer los derechos básicos” </a:t>
            </a:r>
            <a:r>
              <a:rPr cap="none" sz="1000" i="0" b="0" u="none">
                <a:solidFill>
                  <a:srgbClr val="5A6570">
                    <a:alpha val="100000"/>
                  </a:srgbClr>
                </a:solidFill>
                <a:latin typeface="Montserrat"/>
                <a:cs typeface="Montserrat"/>
                <a:ea typeface="Montserrat"/>
                <a:sym typeface="Montserrat"/>
              </a:rPr>
              <a:t>(Varón, 24, Montevideo)</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548640" y="411480"/>
            <a:ext cx="8046720" cy="365760"/>
          </a:xfrm>
        </p:spPr>
        <p:txBody>
          <a:bodyPr/>
          <a:lstStyle/>
          <a:p>
            <a:pPr algn="l" marL="0" marR="0">
              <a:lnSpc>
                <a:spcPct val="120000"/>
              </a:lnSpc>
              <a:spcBef>
                <a:spcPts val="0"/>
              </a:spcBef>
              <a:spcAft>
                <a:spcPts val="0"/>
              </a:spcAft>
              <a:buNone/>
            </a:pPr>
            <a:r>
              <a:rPr cap="none" sz="1200" i="0" b="1" u="none">
                <a:solidFill>
                  <a:srgbClr val="5A6570">
                    <a:alpha val="100000"/>
                  </a:srgbClr>
                </a:solidFill>
                <a:latin typeface="Montserrat"/>
                <a:cs typeface="Montserrat"/>
                <a:ea typeface="Montserrat"/>
                <a:sym typeface="Montserrat"/>
              </a:rPr>
              <a:t>Módulo 6 · Q7</a:t>
            </a:r>
          </a:p>
        </p:txBody>
      </p:sp>
      <p:sp>
        <p:nvSpPr>
          <p:cNvPr id="3" name=""/>
          <p:cNvSpPr>
            <a:spLocks noGrp="1"/>
          </p:cNvSpPr>
          <p:nvPr>
            <p:ph/>
          </p:nvPr>
        </p:nvSpPr>
        <p:spPr>
          <a:xfrm>
            <a:off x="548640" y="1005840"/>
            <a:ext cx="8046720" cy="2560320"/>
          </a:xfrm>
        </p:spPr>
        <p:txBody>
          <a:bodyPr/>
          <a:lstStyle/>
          <a:p>
            <a:pPr algn="l" marL="0" marR="0">
              <a:lnSpc>
                <a:spcPct val="135000"/>
              </a:lnSpc>
              <a:spcBef>
                <a:spcPts val="0"/>
              </a:spcBef>
              <a:spcAft>
                <a:spcPts val="0"/>
              </a:spcAft>
              <a:buNone/>
            </a:pPr>
            <a:r>
              <a:rPr cap="none" sz="2000" i="0" b="0" u="none">
                <a:solidFill>
                  <a:srgbClr val="004A82">
                    <a:alpha val="100000"/>
                  </a:srgbClr>
                </a:solidFill>
                <a:latin typeface="Montserrat"/>
                <a:cs typeface="Montserrat"/>
                <a:ea typeface="Montserrat"/>
                <a:sym typeface="Montserrat"/>
              </a:rPr>
              <a:t>“Y pensando en particular en el Estado uruguayo, ¿cómo lo describirías? Contanos qué lugar ocupa actualmente en la sociedad y de qué cosas se encarga.”</a:t>
            </a:r>
          </a:p>
        </p:txBody>
      </p:sp>
      <p:sp>
        <p:nvSpPr>
          <p:cNvPr id="4" name=""/>
          <p:cNvSpPr>
            <a:spLocks noGrp="1"/>
          </p:cNvSpPr>
          <p:nvPr>
            <p:ph/>
          </p:nvPr>
        </p:nvSpPr>
        <p:spPr>
          <a:xfrm>
            <a:off x="548640" y="4114800"/>
            <a:ext cx="8046720" cy="365760"/>
          </a:xfrm>
        </p:spPr>
        <p:txBody>
          <a:bodyPr/>
          <a:lstStyle/>
          <a:p>
            <a:pPr algn="l" marL="0" marR="0">
              <a:lnSpc>
                <a:spcPct val="120000"/>
              </a:lnSpc>
              <a:spcBef>
                <a:spcPts val="0"/>
              </a:spcBef>
              <a:spcAft>
                <a:spcPts val="0"/>
              </a:spcAft>
              <a:buNone/>
            </a:pPr>
            <a:r>
              <a:rPr cap="none" sz="1200" i="0" b="0" u="none">
                <a:solidFill>
                  <a:srgbClr val="5A6570">
                    <a:alpha val="100000"/>
                  </a:srgbClr>
                </a:solidFill>
                <a:latin typeface="Montserrat"/>
                <a:cs typeface="Montserrat"/>
                <a:ea typeface="Montserrat"/>
                <a:sym typeface="Montserrat"/>
              </a:rPr>
              <a:t>116 respuestas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Códigos asignados</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Frecuencia de menciones · 116 respuestas, hasta 3 códigos cada una</a:t>
            </a:r>
          </a:p>
        </p:txBody>
      </p:sp>
      <p:pic>
        <p:nvPicPr>
          <p:cNvPr id="4" name="" descr=""/>
          <p:cNvPicPr>
            <a:picLocks noGrp="1"/>
          </p:cNvPicPr>
          <p:nvPr>
            <p:ph/>
          </p:nvPr>
        </p:nvPicPr>
        <p:blipFill>
          <a:blip cstate="print" r:embed="rId2"/>
          <a:stretch>
            <a:fillRect/>
          </a:stretch>
        </p:blipFill>
        <p:spPr>
          <a:xfrm>
            <a:off x="548640" y="1234440"/>
            <a:ext cx="8046720" cy="3291840"/>
          </a:xfrm>
          <a:prstGeom prst="rect">
            <a:avLst/>
          </a:prstGeom>
        </p:spPr>
      </p:pic>
      <p:sp>
        <p:nvSpPr>
          <p:cNvPr id="5" name=""/>
          <p:cNvSpPr>
            <a:spLocks noGrp="1"/>
          </p:cNvSpPr>
          <p:nvPr>
            <p:ph/>
          </p:nvPr>
        </p:nvSpPr>
        <p:spPr>
          <a:xfrm>
            <a:off x="548640" y="4617720"/>
            <a:ext cx="8046720" cy="320040"/>
          </a:xfrm>
        </p:spPr>
        <p:txBody>
          <a:bodyPr/>
          <a:lstStyle/>
          <a:p>
            <a:pPr algn="l" marL="0" marR="0">
              <a:lnSpc>
                <a:spcPct val="120000"/>
              </a:lnSpc>
              <a:spcBef>
                <a:spcPts val="0"/>
              </a:spcBef>
              <a:spcAft>
                <a:spcPts val="0"/>
              </a:spcAft>
              <a:buNone/>
            </a:pPr>
            <a:r>
              <a:rPr cap="none" sz="900" i="1" b="0" u="none">
                <a:solidFill>
                  <a:srgbClr val="5A6570">
                    <a:alpha val="100000"/>
                  </a:srgbClr>
                </a:solidFill>
                <a:latin typeface="Montserrat"/>
                <a:cs typeface="Montserrat"/>
                <a:ea typeface="Montserrat"/>
                <a:sym typeface="Montserrat"/>
              </a:rPr>
              <a:t>El total de menciones supera al de respuestas porque una respuesta puede recibir más de un código.</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Códigos según nivel educativo</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Códigos con 5 o más menciones</a:t>
            </a:r>
          </a:p>
        </p:txBody>
      </p:sp>
      <p:pic>
        <p:nvPicPr>
          <p:cNvPr id="4" name="" descr=""/>
          <p:cNvPicPr>
            <a:picLocks noGrp="1"/>
          </p:cNvPicPr>
          <p:nvPr>
            <p:ph/>
          </p:nvPr>
        </p:nvPicPr>
        <p:blipFill>
          <a:blip cstate="print" r:embed="rId2"/>
          <a:stretch>
            <a:fillRect/>
          </a:stretch>
        </p:blipFill>
        <p:spPr>
          <a:xfrm>
            <a:off x="548640" y="1234440"/>
            <a:ext cx="8046720" cy="329184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Códigos según autoubicación ideológica</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Códigos con 5 o más menciones</a:t>
            </a:r>
          </a:p>
        </p:txBody>
      </p:sp>
      <p:pic>
        <p:nvPicPr>
          <p:cNvPr id="4" name="" descr=""/>
          <p:cNvPicPr>
            <a:picLocks noGrp="1"/>
          </p:cNvPicPr>
          <p:nvPr>
            <p:ph/>
          </p:nvPr>
        </p:nvPicPr>
        <p:blipFill>
          <a:blip cstate="print" r:embed="rId2"/>
          <a:stretch>
            <a:fillRect/>
          </a:stretch>
        </p:blipFill>
        <p:spPr>
          <a:xfrm>
            <a:off x="548640" y="1234440"/>
            <a:ext cx="8046720" cy="329184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Correspondencias: códigos y nivel educativo</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Dim 1: 63.8% de la inercia · Dim 2: 36.2%</a:t>
            </a:r>
          </a:p>
        </p:txBody>
      </p:sp>
      <p:pic>
        <p:nvPicPr>
          <p:cNvPr id="4" name="" descr=""/>
          <p:cNvPicPr>
            <a:picLocks noGrp="1"/>
          </p:cNvPicPr>
          <p:nvPr>
            <p:ph/>
          </p:nvPr>
        </p:nvPicPr>
        <p:blipFill>
          <a:blip cstate="print" r:embed="rId2"/>
          <a:stretch>
            <a:fillRect/>
          </a:stretch>
        </p:blipFill>
        <p:spPr>
          <a:xfrm>
            <a:off x="548640" y="1234440"/>
            <a:ext cx="8046720" cy="3291840"/>
          </a:xfrm>
          <a:prstGeom prst="rect">
            <a:avLst/>
          </a:prstGeom>
        </p:spPr>
      </p:pic>
      <p:sp>
        <p:nvSpPr>
          <p:cNvPr id="5" name=""/>
          <p:cNvSpPr>
            <a:spLocks noGrp="1"/>
          </p:cNvSpPr>
          <p:nvPr>
            <p:ph/>
          </p:nvPr>
        </p:nvSpPr>
        <p:spPr>
          <a:xfrm>
            <a:off x="548640" y="4617720"/>
            <a:ext cx="8046720" cy="320040"/>
          </a:xfrm>
        </p:spPr>
        <p:txBody>
          <a:bodyPr/>
          <a:lstStyle/>
          <a:p>
            <a:pPr algn="l" marL="0" marR="0">
              <a:lnSpc>
                <a:spcPct val="120000"/>
              </a:lnSpc>
              <a:spcBef>
                <a:spcPts val="0"/>
              </a:spcBef>
              <a:spcAft>
                <a:spcPts val="0"/>
              </a:spcAft>
              <a:buNone/>
            </a:pPr>
            <a:r>
              <a:rPr cap="none" sz="900" i="1" b="0" u="none">
                <a:solidFill>
                  <a:srgbClr val="5A6570">
                    <a:alpha val="100000"/>
                  </a:srgbClr>
                </a:solidFill>
                <a:latin typeface="Montserrat"/>
                <a:cs typeface="Montserrat"/>
                <a:ea typeface="Montserrat"/>
                <a:sym typeface="Montserrat"/>
              </a:rPr>
              <a:t>La proximidad indica asociación entre un código y una categoría, no causalidad.</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Citas por código</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Citas textuales, sin editar</a:t>
            </a:r>
          </a:p>
        </p:txBody>
      </p:sp>
      <p:sp>
        <p:nvSpPr>
          <p:cNvPr id="4" name=""/>
          <p:cNvSpPr>
            <a:spLocks noGrp="1"/>
          </p:cNvSpPr>
          <p:nvPr>
            <p:ph/>
          </p:nvPr>
        </p:nvSpPr>
        <p:spPr>
          <a:xfrm>
            <a:off x="548640" y="1234440"/>
            <a:ext cx="8046720" cy="3474720"/>
          </a:xfrm>
        </p:spPr>
        <p:txBody>
          <a:bodyPr/>
          <a:lstStyle/>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Presente y protector</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“En este momento está tratando de asistir a los más desposeídos de la mejor manera aun con pocos recursos. Y en general desde la época batllista fue bastante justo aunque con algunos gobiernos se trató de favorecer a los más privilegiados” </a:t>
            </a:r>
            <a:r>
              <a:rPr cap="none" sz="1000" i="0" b="0" u="none">
                <a:solidFill>
                  <a:srgbClr val="5A6570">
                    <a:alpha val="100000"/>
                  </a:srgbClr>
                </a:solidFill>
                <a:latin typeface="Montserrat"/>
                <a:cs typeface="Montserrat"/>
                <a:ea typeface="Montserrat"/>
                <a:sym typeface="Montserrat"/>
              </a:rPr>
              <a:t>(Mujer, 78, Montevideo)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“El estado en Uruguay es importante porque garantiza servicios y derechos básicos como la salud la educación y la seguridad social. A la vez pienso que debería ser más eficiente menos burocrático y estar más cerca de las necesidades de la gente.” </a:t>
            </a:r>
            <a:r>
              <a:rPr cap="none" sz="1000" i="0" b="0" u="none">
                <a:solidFill>
                  <a:srgbClr val="5A6570">
                    <a:alpha val="100000"/>
                  </a:srgbClr>
                </a:solidFill>
                <a:latin typeface="Montserrat"/>
                <a:cs typeface="Montserrat"/>
                <a:ea typeface="Montserrat"/>
                <a:sym typeface="Montserrat"/>
              </a:rPr>
              <a:t>(Mujer, 25, Canelones)</a:t>
            </a:r>
          </a:p>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Ausente o insuficiente</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“Hoy por hoy el estado se está olvidando del pueblo dicen una cosa y hacen otra el estado es que tiene que garantizar un equilibrio no dar solo dar al que no tiene sino darle las herramientas para que ellos se desarrollen” </a:t>
            </a:r>
            <a:r>
              <a:rPr cap="none" sz="1000" i="0" b="0" u="none">
                <a:solidFill>
                  <a:srgbClr val="5A6570">
                    <a:alpha val="100000"/>
                  </a:srgbClr>
                </a:solidFill>
                <a:latin typeface="Montserrat"/>
                <a:cs typeface="Montserrat"/>
                <a:ea typeface="Montserrat"/>
                <a:sym typeface="Montserrat"/>
              </a:rPr>
              <a:t>(Mujer, 57, Montevideo)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“Plenamente dedicado a los planes sociales descuidando todo lo demás.” </a:t>
            </a:r>
            <a:r>
              <a:rPr cap="none" sz="1000" i="0" b="0" u="none">
                <a:solidFill>
                  <a:srgbClr val="5A6570">
                    <a:alpha val="100000"/>
                  </a:srgbClr>
                </a:solidFill>
                <a:latin typeface="Montserrat"/>
                <a:cs typeface="Montserrat"/>
                <a:ea typeface="Montserrat"/>
                <a:sym typeface="Montserrat"/>
              </a:rPr>
              <a:t>(Mujer, 44, Canelones)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Citas por código</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Citas textuales, sin editar</a:t>
            </a:r>
          </a:p>
        </p:txBody>
      </p:sp>
      <p:sp>
        <p:nvSpPr>
          <p:cNvPr id="4" name=""/>
          <p:cNvSpPr>
            <a:spLocks noGrp="1"/>
          </p:cNvSpPr>
          <p:nvPr>
            <p:ph/>
          </p:nvPr>
        </p:nvSpPr>
        <p:spPr>
          <a:xfrm>
            <a:off x="548640" y="1234440"/>
            <a:ext cx="8046720" cy="3474720"/>
          </a:xfrm>
        </p:spPr>
        <p:txBody>
          <a:bodyPr/>
          <a:lstStyle/>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Tradicion democratica</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“El estado uruguayo es una República democrática.nCon respecto a la sociedad enfrenta diferentes debates.nOfrece: derechos civiles y socialesnOfrece servicios públicos educación sanidad info comunicaciones y energia y mas” </a:t>
            </a:r>
            <a:r>
              <a:rPr cap="none" sz="1000" i="0" b="0" u="none">
                <a:solidFill>
                  <a:srgbClr val="5A6570">
                    <a:alpha val="100000"/>
                  </a:srgbClr>
                </a:solidFill>
                <a:latin typeface="Montserrat"/>
                <a:cs typeface="Montserrat"/>
                <a:ea typeface="Montserrat"/>
                <a:sym typeface="Montserrat"/>
              </a:rPr>
              <a:t>(Mujer, 57, Montevideo)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“El Estado uruguayo es una república democrática caracterizada por ser un fuerte Estado social de Derecho. Heredero de las reformas batllistas de principios del siglo XX ocupa un lugar central y paternal en la sociedad. Funciona como el principal garante de la integración la equidad la laicidad y el bienestar ciudadano” </a:t>
            </a:r>
            <a:r>
              <a:rPr cap="none" sz="1000" i="0" b="0" u="none">
                <a:solidFill>
                  <a:srgbClr val="5A6570">
                    <a:alpha val="100000"/>
                  </a:srgbClr>
                </a:solidFill>
                <a:latin typeface="Montserrat"/>
                <a:cs typeface="Montserrat"/>
                <a:ea typeface="Montserrat"/>
                <a:sym typeface="Montserrat"/>
              </a:rPr>
              <a:t>(Mujer, 41, Canelones)</a:t>
            </a:r>
          </a:p>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Ineficiente o mal gestionado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“Que está bien organizado en cuanto a los organismos pero dentro de los organismos quienes los manejan no lo hacen del todo bien.” </a:t>
            </a:r>
            <a:r>
              <a:rPr cap="none" sz="1000" i="0" b="0" u="none">
                <a:solidFill>
                  <a:srgbClr val="5A6570">
                    <a:alpha val="100000"/>
                  </a:srgbClr>
                </a:solidFill>
                <a:latin typeface="Montserrat"/>
                <a:cs typeface="Montserrat"/>
                <a:ea typeface="Montserrat"/>
                <a:sym typeface="Montserrat"/>
              </a:rPr>
              <a:t>(Mujer, 24, Montevideo)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“Lo describiría como poco eficiente en temas muy importantes como la salud la salud mental donde si no vivís en Montevideo no podes acceder a un servicio rápido de salud mental . No está ocupando un lugar fuerte y contundente en la educación falta destinar un interés real” </a:t>
            </a:r>
            <a:r>
              <a:rPr cap="none" sz="1000" i="0" b="0" u="none">
                <a:solidFill>
                  <a:srgbClr val="5A6570">
                    <a:alpha val="100000"/>
                  </a:srgbClr>
                </a:solidFill>
                <a:latin typeface="Montserrat"/>
                <a:cs typeface="Montserrat"/>
                <a:ea typeface="Montserrat"/>
                <a:sym typeface="Montserrat"/>
              </a:rPr>
              <a:t>(Mujer, 42, Canelones)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Citas por código</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Citas textuales, sin editar</a:t>
            </a:r>
          </a:p>
        </p:txBody>
      </p:sp>
      <p:sp>
        <p:nvSpPr>
          <p:cNvPr id="4" name=""/>
          <p:cNvSpPr>
            <a:spLocks noGrp="1"/>
          </p:cNvSpPr>
          <p:nvPr>
            <p:ph/>
          </p:nvPr>
        </p:nvSpPr>
        <p:spPr>
          <a:xfrm>
            <a:off x="548640" y="1234440"/>
            <a:ext cx="8046720" cy="3474720"/>
          </a:xfrm>
        </p:spPr>
        <p:txBody>
          <a:bodyPr/>
          <a:lstStyle/>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Valoracion negativa generica</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“Es un Estado sin rumbo sin proyectos no saben dirigir solo piensan en su ideología para imponerla pero no la viven ellos. La sociedad Uruguaya hoy día es un caos.” </a:t>
            </a:r>
            <a:r>
              <a:rPr cap="none" sz="1000" i="0" b="0" u="none">
                <a:solidFill>
                  <a:srgbClr val="5A6570">
                    <a:alpha val="100000"/>
                  </a:srgbClr>
                </a:solidFill>
                <a:latin typeface="Montserrat"/>
                <a:cs typeface="Montserrat"/>
                <a:ea typeface="Montserrat"/>
                <a:sym typeface="Montserrat"/>
              </a:rPr>
              <a:t>(Mujer, 59, Canelones)</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“El estado uruguayo hoy se desmoronó n No le importa nada el ciudadano de abajo lo unico x lo q se preocupa es x llenarles los bolsillos a unos pocos” </a:t>
            </a:r>
            <a:r>
              <a:rPr cap="none" sz="1000" i="0" b="0" u="none">
                <a:solidFill>
                  <a:srgbClr val="5A6570">
                    <a:alpha val="100000"/>
                  </a:srgbClr>
                </a:solidFill>
                <a:latin typeface="Montserrat"/>
                <a:cs typeface="Montserrat"/>
                <a:ea typeface="Montserrat"/>
                <a:sym typeface="Montserrat"/>
              </a:rPr>
              <a:t>(Mujer, 44, Interior)</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548640" y="411480"/>
            <a:ext cx="8046720" cy="365760"/>
          </a:xfrm>
        </p:spPr>
        <p:txBody>
          <a:bodyPr/>
          <a:lstStyle/>
          <a:p>
            <a:pPr algn="l" marL="0" marR="0">
              <a:lnSpc>
                <a:spcPct val="120000"/>
              </a:lnSpc>
              <a:spcBef>
                <a:spcPts val="0"/>
              </a:spcBef>
              <a:spcAft>
                <a:spcPts val="0"/>
              </a:spcAft>
              <a:buNone/>
            </a:pPr>
            <a:r>
              <a:rPr cap="none" sz="1200" i="0" b="1" u="none">
                <a:solidFill>
                  <a:srgbClr val="5A6570">
                    <a:alpha val="100000"/>
                  </a:srgbClr>
                </a:solidFill>
                <a:latin typeface="Montserrat"/>
                <a:cs typeface="Montserrat"/>
                <a:ea typeface="Montserrat"/>
                <a:sym typeface="Montserrat"/>
              </a:rPr>
              <a:t>Módulo 7 · Q8</a:t>
            </a:r>
          </a:p>
        </p:txBody>
      </p:sp>
      <p:sp>
        <p:nvSpPr>
          <p:cNvPr id="3" name=""/>
          <p:cNvSpPr>
            <a:spLocks noGrp="1"/>
          </p:cNvSpPr>
          <p:nvPr>
            <p:ph/>
          </p:nvPr>
        </p:nvSpPr>
        <p:spPr>
          <a:xfrm>
            <a:off x="548640" y="1005840"/>
            <a:ext cx="8046720" cy="2560320"/>
          </a:xfrm>
        </p:spPr>
        <p:txBody>
          <a:bodyPr/>
          <a:lstStyle/>
          <a:p>
            <a:pPr algn="l" marL="0" marR="0">
              <a:lnSpc>
                <a:spcPct val="135000"/>
              </a:lnSpc>
              <a:spcBef>
                <a:spcPts val="0"/>
              </a:spcBef>
              <a:spcAft>
                <a:spcPts val="0"/>
              </a:spcAft>
              <a:buNone/>
            </a:pPr>
            <a:r>
              <a:rPr cap="none" sz="2000" i="0" b="0" u="none">
                <a:solidFill>
                  <a:srgbClr val="004A82">
                    <a:alpha val="100000"/>
                  </a:srgbClr>
                </a:solidFill>
                <a:latin typeface="Montserrat"/>
                <a:cs typeface="Montserrat"/>
                <a:ea typeface="Montserrat"/>
                <a:sym typeface="Montserrat"/>
              </a:rPr>
              <a:t>“Cuando escuchás la palabra desigualdad, ¿qué es lo primero en lo que pensás?”</a:t>
            </a:r>
          </a:p>
        </p:txBody>
      </p:sp>
      <p:sp>
        <p:nvSpPr>
          <p:cNvPr id="4" name=""/>
          <p:cNvSpPr>
            <a:spLocks noGrp="1"/>
          </p:cNvSpPr>
          <p:nvPr>
            <p:ph/>
          </p:nvPr>
        </p:nvSpPr>
        <p:spPr>
          <a:xfrm>
            <a:off x="548640" y="4114800"/>
            <a:ext cx="8046720" cy="365760"/>
          </a:xfrm>
        </p:spPr>
        <p:txBody>
          <a:bodyPr/>
          <a:lstStyle/>
          <a:p>
            <a:pPr algn="l" marL="0" marR="0">
              <a:lnSpc>
                <a:spcPct val="120000"/>
              </a:lnSpc>
              <a:spcBef>
                <a:spcPts val="0"/>
              </a:spcBef>
              <a:spcAft>
                <a:spcPts val="0"/>
              </a:spcAft>
              <a:buNone/>
            </a:pPr>
            <a:r>
              <a:rPr cap="none" sz="1200" i="0" b="0" u="none">
                <a:solidFill>
                  <a:srgbClr val="5A6570">
                    <a:alpha val="100000"/>
                  </a:srgbClr>
                </a:solidFill>
                <a:latin typeface="Montserrat"/>
                <a:cs typeface="Montserrat"/>
                <a:ea typeface="Montserrat"/>
                <a:sym typeface="Montserrat"/>
              </a:rPr>
              <a:t>115 respuestas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Códigos asignados</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Frecuencia de menciones · 115 respuestas, hasta 3 códigos cada una</a:t>
            </a:r>
          </a:p>
        </p:txBody>
      </p:sp>
      <p:pic>
        <p:nvPicPr>
          <p:cNvPr id="4" name="" descr=""/>
          <p:cNvPicPr>
            <a:picLocks noGrp="1"/>
          </p:cNvPicPr>
          <p:nvPr>
            <p:ph/>
          </p:nvPr>
        </p:nvPicPr>
        <p:blipFill>
          <a:blip cstate="print" r:embed="rId2"/>
          <a:stretch>
            <a:fillRect/>
          </a:stretch>
        </p:blipFill>
        <p:spPr>
          <a:xfrm>
            <a:off x="548640" y="1234440"/>
            <a:ext cx="8046720" cy="3291840"/>
          </a:xfrm>
          <a:prstGeom prst="rect">
            <a:avLst/>
          </a:prstGeom>
        </p:spPr>
      </p:pic>
      <p:sp>
        <p:nvSpPr>
          <p:cNvPr id="5" name=""/>
          <p:cNvSpPr>
            <a:spLocks noGrp="1"/>
          </p:cNvSpPr>
          <p:nvPr>
            <p:ph/>
          </p:nvPr>
        </p:nvSpPr>
        <p:spPr>
          <a:xfrm>
            <a:off x="548640" y="4617720"/>
            <a:ext cx="8046720" cy="320040"/>
          </a:xfrm>
        </p:spPr>
        <p:txBody>
          <a:bodyPr/>
          <a:lstStyle/>
          <a:p>
            <a:pPr algn="l" marL="0" marR="0">
              <a:lnSpc>
                <a:spcPct val="120000"/>
              </a:lnSpc>
              <a:spcBef>
                <a:spcPts val="0"/>
              </a:spcBef>
              <a:spcAft>
                <a:spcPts val="0"/>
              </a:spcAft>
              <a:buNone/>
            </a:pPr>
            <a:r>
              <a:rPr cap="none" sz="900" i="1" b="0" u="none">
                <a:solidFill>
                  <a:srgbClr val="5A6570">
                    <a:alpha val="100000"/>
                  </a:srgbClr>
                </a:solidFill>
                <a:latin typeface="Montserrat"/>
                <a:cs typeface="Montserrat"/>
                <a:ea typeface="Montserrat"/>
                <a:sym typeface="Montserrat"/>
              </a:rPr>
              <a:t>El total de menciones supera al de respuestas porque una respuesta puede recibir más de un código.</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Códigos según región</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Códigos con 5 o más menciones</a:t>
            </a:r>
          </a:p>
        </p:txBody>
      </p:sp>
      <p:pic>
        <p:nvPicPr>
          <p:cNvPr id="4" name="" descr=""/>
          <p:cNvPicPr>
            <a:picLocks noGrp="1"/>
          </p:cNvPicPr>
          <p:nvPr>
            <p:ph/>
          </p:nvPr>
        </p:nvPicPr>
        <p:blipFill>
          <a:blip cstate="print" r:embed="rId2"/>
          <a:stretch>
            <a:fillRect/>
          </a:stretch>
        </p:blipFill>
        <p:spPr>
          <a:xfrm>
            <a:off x="548640" y="1234440"/>
            <a:ext cx="8046720" cy="329184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Códigos según nivel educativo</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Códigos con 5 o más menciones</a:t>
            </a:r>
          </a:p>
        </p:txBody>
      </p:sp>
      <p:pic>
        <p:nvPicPr>
          <p:cNvPr id="4" name="" descr=""/>
          <p:cNvPicPr>
            <a:picLocks noGrp="1"/>
          </p:cNvPicPr>
          <p:nvPr>
            <p:ph/>
          </p:nvPr>
        </p:nvPicPr>
        <p:blipFill>
          <a:blip cstate="print" r:embed="rId2"/>
          <a:stretch>
            <a:fillRect/>
          </a:stretch>
        </p:blipFill>
        <p:spPr>
          <a:xfrm>
            <a:off x="548640" y="1234440"/>
            <a:ext cx="8046720" cy="329184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Correspondencias: códigos y región</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Dim 1: 73.3% de la inercia · Dim 2: 26.7%</a:t>
            </a:r>
          </a:p>
        </p:txBody>
      </p:sp>
      <p:pic>
        <p:nvPicPr>
          <p:cNvPr id="4" name="" descr=""/>
          <p:cNvPicPr>
            <a:picLocks noGrp="1"/>
          </p:cNvPicPr>
          <p:nvPr>
            <p:ph/>
          </p:nvPr>
        </p:nvPicPr>
        <p:blipFill>
          <a:blip cstate="print" r:embed="rId2"/>
          <a:stretch>
            <a:fillRect/>
          </a:stretch>
        </p:blipFill>
        <p:spPr>
          <a:xfrm>
            <a:off x="548640" y="1234440"/>
            <a:ext cx="8046720" cy="3291840"/>
          </a:xfrm>
          <a:prstGeom prst="rect">
            <a:avLst/>
          </a:prstGeom>
        </p:spPr>
      </p:pic>
      <p:sp>
        <p:nvSpPr>
          <p:cNvPr id="5" name=""/>
          <p:cNvSpPr>
            <a:spLocks noGrp="1"/>
          </p:cNvSpPr>
          <p:nvPr>
            <p:ph/>
          </p:nvPr>
        </p:nvSpPr>
        <p:spPr>
          <a:xfrm>
            <a:off x="548640" y="4617720"/>
            <a:ext cx="8046720" cy="320040"/>
          </a:xfrm>
        </p:spPr>
        <p:txBody>
          <a:bodyPr/>
          <a:lstStyle/>
          <a:p>
            <a:pPr algn="l" marL="0" marR="0">
              <a:lnSpc>
                <a:spcPct val="120000"/>
              </a:lnSpc>
              <a:spcBef>
                <a:spcPts val="0"/>
              </a:spcBef>
              <a:spcAft>
                <a:spcPts val="0"/>
              </a:spcAft>
              <a:buNone/>
            </a:pPr>
            <a:r>
              <a:rPr cap="none" sz="900" i="1" b="0" u="none">
                <a:solidFill>
                  <a:srgbClr val="5A6570">
                    <a:alpha val="100000"/>
                  </a:srgbClr>
                </a:solidFill>
                <a:latin typeface="Montserrat"/>
                <a:cs typeface="Montserrat"/>
                <a:ea typeface="Montserrat"/>
                <a:sym typeface="Montserrat"/>
              </a:rPr>
              <a:t>La proximidad indica asociación entre un código y una categoría, no causalidad.</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Citas por código</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Citas textuales, sin editar</a:t>
            </a:r>
          </a:p>
        </p:txBody>
      </p:sp>
      <p:sp>
        <p:nvSpPr>
          <p:cNvPr id="4" name=""/>
          <p:cNvSpPr>
            <a:spLocks noGrp="1"/>
          </p:cNvSpPr>
          <p:nvPr>
            <p:ph/>
          </p:nvPr>
        </p:nvSpPr>
        <p:spPr>
          <a:xfrm>
            <a:off x="548640" y="1234440"/>
            <a:ext cx="8046720" cy="3474720"/>
          </a:xfrm>
        </p:spPr>
        <p:txBody>
          <a:bodyPr/>
          <a:lstStyle/>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Diferencias economicas e ingresos</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“Desigualdad es cuando unos pocos se apropian de la mayoría de los recursos y riquezas disponibles y dejan a la mayoría con poca oportunidad de vivir una vida digna y holgada” </a:t>
            </a:r>
            <a:r>
              <a:rPr cap="none" sz="1000" i="0" b="0" u="none">
                <a:solidFill>
                  <a:srgbClr val="5A6570">
                    <a:alpha val="100000"/>
                  </a:srgbClr>
                </a:solidFill>
                <a:latin typeface="Montserrat"/>
                <a:cs typeface="Montserrat"/>
                <a:ea typeface="Montserrat"/>
                <a:sym typeface="Montserrat"/>
              </a:rPr>
              <a:t>(Mujer, 78, Montevideo)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“En el recibo de la luz q actualmente pago 8 mil pesos mensuales y los q tienen planes pagan miserias” </a:t>
            </a:r>
            <a:r>
              <a:rPr cap="none" sz="1000" i="0" b="0" u="none">
                <a:solidFill>
                  <a:srgbClr val="5A6570">
                    <a:alpha val="100000"/>
                  </a:srgbClr>
                </a:solidFill>
                <a:latin typeface="Montserrat"/>
                <a:cs typeface="Montserrat"/>
                <a:ea typeface="Montserrat"/>
                <a:sym typeface="Montserrat"/>
              </a:rPr>
              <a:t>(Mujer, 40, Canelones)</a:t>
            </a:r>
          </a:p>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Injusticia</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“No, es algo que me molesta. Me molesta porque la desigualdad no es buena a ningún nivel. O sea, nadie es desigual. Nadie es desigual. Creo que tenemos desigualdad de oportunidades, pero eso no quiere decir que seamos distintos o diferentes. Pienso que si todos tuviéramos las mismas posibilidades, no habría desigualdad.” </a:t>
            </a:r>
            <a:r>
              <a:rPr cap="none" sz="1000" i="0" b="0" u="none">
                <a:solidFill>
                  <a:srgbClr val="5A6570">
                    <a:alpha val="100000"/>
                  </a:srgbClr>
                </a:solidFill>
                <a:latin typeface="Montserrat"/>
                <a:cs typeface="Montserrat"/>
                <a:ea typeface="Montserrat"/>
                <a:sym typeface="Montserrat"/>
              </a:rPr>
              <a:t>(Mujer, 54, Montevideo)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“Pienso en todas la personas que conozco que en el papel o en la ley tienen todos los mismos derechos pero luego en la vida real el estado no lo garantiza . Incluyéndome” </a:t>
            </a:r>
            <a:r>
              <a:rPr cap="none" sz="1000" i="0" b="0" u="none">
                <a:solidFill>
                  <a:srgbClr val="5A6570">
                    <a:alpha val="100000"/>
                  </a:srgbClr>
                </a:solidFill>
                <a:latin typeface="Montserrat"/>
                <a:cs typeface="Montserrat"/>
                <a:ea typeface="Montserrat"/>
                <a:sym typeface="Montserrat"/>
              </a:rPr>
              <a:t>(Mujer, 42, Canelones)</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Citas por código</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Citas textuales, sin editar</a:t>
            </a:r>
          </a:p>
        </p:txBody>
      </p:sp>
      <p:sp>
        <p:nvSpPr>
          <p:cNvPr id="4" name=""/>
          <p:cNvSpPr>
            <a:spLocks noGrp="1"/>
          </p:cNvSpPr>
          <p:nvPr>
            <p:ph/>
          </p:nvPr>
        </p:nvSpPr>
        <p:spPr>
          <a:xfrm>
            <a:off x="548640" y="1234440"/>
            <a:ext cx="8046720" cy="3474720"/>
          </a:xfrm>
        </p:spPr>
        <p:txBody>
          <a:bodyPr/>
          <a:lstStyle/>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Exclusion y marginacion</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“Pienso en los gurises de la teja que andan en patas en este frío.” </a:t>
            </a:r>
            <a:r>
              <a:rPr cap="none" sz="1000" i="0" b="0" u="none">
                <a:solidFill>
                  <a:srgbClr val="5A6570">
                    <a:alpha val="100000"/>
                  </a:srgbClr>
                </a:solidFill>
                <a:latin typeface="Montserrat"/>
                <a:cs typeface="Montserrat"/>
                <a:ea typeface="Montserrat"/>
                <a:sym typeface="Montserrat"/>
              </a:rPr>
              <a:t>(Mujer, 38, Montevideo)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“En la gente de la calle en la vulnerabilidad creo que quedar fuera de un sistema es parte de esa desigualdad” </a:t>
            </a:r>
            <a:r>
              <a:rPr cap="none" sz="1000" i="0" b="0" u="none">
                <a:solidFill>
                  <a:srgbClr val="5A6570">
                    <a:alpha val="100000"/>
                  </a:srgbClr>
                </a:solidFill>
                <a:latin typeface="Montserrat"/>
                <a:cs typeface="Montserrat"/>
                <a:ea typeface="Montserrat"/>
                <a:sym typeface="Montserrat"/>
              </a:rPr>
              <a:t>(Mujer, 59, Canelones)</a:t>
            </a:r>
          </a:p>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Poder y clases</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“Pienso q aca en uruguay solo los q tienen plata tienen derechos” </a:t>
            </a:r>
            <a:r>
              <a:rPr cap="none" sz="1000" i="0" b="0" u="none">
                <a:solidFill>
                  <a:srgbClr val="5A6570">
                    <a:alpha val="100000"/>
                  </a:srgbClr>
                </a:solidFill>
                <a:latin typeface="Montserrat"/>
                <a:cs typeface="Montserrat"/>
                <a:ea typeface="Montserrat"/>
                <a:sym typeface="Montserrat"/>
              </a:rPr>
              <a:t>(Mujer, 55, Canelones)</a:t>
            </a:r>
          </a:p>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Oportunidades y acceso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“Falta de derechos y oportunidades entre las personas de un mismo territorio” </a:t>
            </a:r>
            <a:r>
              <a:rPr cap="none" sz="1000" i="0" b="0" u="none">
                <a:solidFill>
                  <a:srgbClr val="5A6570">
                    <a:alpha val="100000"/>
                  </a:srgbClr>
                </a:solidFill>
                <a:latin typeface="Montserrat"/>
                <a:cs typeface="Montserrat"/>
                <a:ea typeface="Montserrat"/>
                <a:sym typeface="Montserrat"/>
              </a:rPr>
              <a:t>(Mujer, 41, Montevideo)</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Citas por código</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Citas textuales, sin editar</a:t>
            </a:r>
          </a:p>
        </p:txBody>
      </p:sp>
      <p:sp>
        <p:nvSpPr>
          <p:cNvPr id="4" name=""/>
          <p:cNvSpPr>
            <a:spLocks noGrp="1"/>
          </p:cNvSpPr>
          <p:nvPr>
            <p:ph/>
          </p:nvPr>
        </p:nvSpPr>
        <p:spPr>
          <a:xfrm>
            <a:off x="548640" y="1234440"/>
            <a:ext cx="8046720" cy="3474720"/>
          </a:xfrm>
        </p:spPr>
        <p:txBody>
          <a:bodyPr/>
          <a:lstStyle/>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Oportunidades y acceso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“La desigualdad es la condición en la que las personas tienen un acceso no equitativo a los recursos derechos oportunidades y bienes económicos dentro de una sociedad o entre distintos países” </a:t>
            </a:r>
            <a:r>
              <a:rPr cap="none" sz="1000" i="0" b="0" u="none">
                <a:solidFill>
                  <a:srgbClr val="5A6570">
                    <a:alpha val="100000"/>
                  </a:srgbClr>
                </a:solidFill>
                <a:latin typeface="Montserrat"/>
                <a:cs typeface="Montserrat"/>
                <a:ea typeface="Montserrat"/>
                <a:sym typeface="Montserrat"/>
              </a:rPr>
              <a:t>(Mujer, 41, Canelones)</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548640" y="411480"/>
            <a:ext cx="8046720" cy="365760"/>
          </a:xfrm>
        </p:spPr>
        <p:txBody>
          <a:bodyPr/>
          <a:lstStyle/>
          <a:p>
            <a:pPr algn="l" marL="0" marR="0">
              <a:lnSpc>
                <a:spcPct val="120000"/>
              </a:lnSpc>
              <a:spcBef>
                <a:spcPts val="0"/>
              </a:spcBef>
              <a:spcAft>
                <a:spcPts val="0"/>
              </a:spcAft>
              <a:buNone/>
            </a:pPr>
            <a:r>
              <a:rPr cap="none" sz="1200" i="0" b="1" u="none">
                <a:solidFill>
                  <a:srgbClr val="5A6570">
                    <a:alpha val="100000"/>
                  </a:srgbClr>
                </a:solidFill>
                <a:latin typeface="Montserrat"/>
                <a:cs typeface="Montserrat"/>
                <a:ea typeface="Montserrat"/>
                <a:sym typeface="Montserrat"/>
              </a:rPr>
              <a:t>Módulo 8 · Q9</a:t>
            </a:r>
          </a:p>
        </p:txBody>
      </p:sp>
      <p:sp>
        <p:nvSpPr>
          <p:cNvPr id="3" name=""/>
          <p:cNvSpPr>
            <a:spLocks noGrp="1"/>
          </p:cNvSpPr>
          <p:nvPr>
            <p:ph/>
          </p:nvPr>
        </p:nvSpPr>
        <p:spPr>
          <a:xfrm>
            <a:off x="548640" y="1005840"/>
            <a:ext cx="8046720" cy="2560320"/>
          </a:xfrm>
        </p:spPr>
        <p:txBody>
          <a:bodyPr/>
          <a:lstStyle/>
          <a:p>
            <a:pPr algn="l" marL="0" marR="0">
              <a:lnSpc>
                <a:spcPct val="135000"/>
              </a:lnSpc>
              <a:spcBef>
                <a:spcPts val="0"/>
              </a:spcBef>
              <a:spcAft>
                <a:spcPts val="0"/>
              </a:spcAft>
              <a:buNone/>
            </a:pPr>
            <a:r>
              <a:rPr cap="none" sz="2000" i="0" b="0" u="none">
                <a:solidFill>
                  <a:srgbClr val="004A82">
                    <a:alpha val="100000"/>
                  </a:srgbClr>
                </a:solidFill>
                <a:latin typeface="Montserrat"/>
                <a:cs typeface="Montserrat"/>
                <a:ea typeface="Montserrat"/>
                <a:sym typeface="Montserrat"/>
              </a:rPr>
              <a:t>“En Uruguay, ¿qué situaciones te parecen desiguales?”</a:t>
            </a:r>
          </a:p>
        </p:txBody>
      </p:sp>
      <p:sp>
        <p:nvSpPr>
          <p:cNvPr id="4" name=""/>
          <p:cNvSpPr>
            <a:spLocks noGrp="1"/>
          </p:cNvSpPr>
          <p:nvPr>
            <p:ph/>
          </p:nvPr>
        </p:nvSpPr>
        <p:spPr>
          <a:xfrm>
            <a:off x="548640" y="4114800"/>
            <a:ext cx="8046720" cy="365760"/>
          </a:xfrm>
        </p:spPr>
        <p:txBody>
          <a:bodyPr/>
          <a:lstStyle/>
          <a:p>
            <a:pPr algn="l" marL="0" marR="0">
              <a:lnSpc>
                <a:spcPct val="120000"/>
              </a:lnSpc>
              <a:spcBef>
                <a:spcPts val="0"/>
              </a:spcBef>
              <a:spcAft>
                <a:spcPts val="0"/>
              </a:spcAft>
              <a:buNone/>
            </a:pPr>
            <a:r>
              <a:rPr cap="none" sz="1200" i="0" b="0" u="none">
                <a:solidFill>
                  <a:srgbClr val="5A6570">
                    <a:alpha val="100000"/>
                  </a:srgbClr>
                </a:solidFill>
                <a:latin typeface="Montserrat"/>
                <a:cs typeface="Montserrat"/>
                <a:ea typeface="Montserrat"/>
                <a:sym typeface="Montserrat"/>
              </a:rPr>
              <a:t>114 respuestas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Códigos asignados</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Frecuencia de menciones · 114 respuestas, hasta 3 códigos cada una</a:t>
            </a:r>
          </a:p>
        </p:txBody>
      </p:sp>
      <p:pic>
        <p:nvPicPr>
          <p:cNvPr id="4" name="" descr=""/>
          <p:cNvPicPr>
            <a:picLocks noGrp="1"/>
          </p:cNvPicPr>
          <p:nvPr>
            <p:ph/>
          </p:nvPr>
        </p:nvPicPr>
        <p:blipFill>
          <a:blip cstate="print" r:embed="rId2"/>
          <a:stretch>
            <a:fillRect/>
          </a:stretch>
        </p:blipFill>
        <p:spPr>
          <a:xfrm>
            <a:off x="548640" y="1234440"/>
            <a:ext cx="8046720" cy="3291840"/>
          </a:xfrm>
          <a:prstGeom prst="rect">
            <a:avLst/>
          </a:prstGeom>
        </p:spPr>
      </p:pic>
      <p:sp>
        <p:nvSpPr>
          <p:cNvPr id="5" name=""/>
          <p:cNvSpPr>
            <a:spLocks noGrp="1"/>
          </p:cNvSpPr>
          <p:nvPr>
            <p:ph/>
          </p:nvPr>
        </p:nvSpPr>
        <p:spPr>
          <a:xfrm>
            <a:off x="548640" y="4617720"/>
            <a:ext cx="8046720" cy="320040"/>
          </a:xfrm>
        </p:spPr>
        <p:txBody>
          <a:bodyPr/>
          <a:lstStyle/>
          <a:p>
            <a:pPr algn="l" marL="0" marR="0">
              <a:lnSpc>
                <a:spcPct val="120000"/>
              </a:lnSpc>
              <a:spcBef>
                <a:spcPts val="0"/>
              </a:spcBef>
              <a:spcAft>
                <a:spcPts val="0"/>
              </a:spcAft>
              <a:buNone/>
            </a:pPr>
            <a:r>
              <a:rPr cap="none" sz="900" i="1" b="0" u="none">
                <a:solidFill>
                  <a:srgbClr val="5A6570">
                    <a:alpha val="100000"/>
                  </a:srgbClr>
                </a:solidFill>
                <a:latin typeface="Montserrat"/>
                <a:cs typeface="Montserrat"/>
                <a:ea typeface="Montserrat"/>
                <a:sym typeface="Montserrat"/>
              </a:rPr>
              <a:t>El total de menciones supera al de respuestas porque una respuesta puede recibir más de un código.</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Códigos según sexo</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Códigos con 5 o más menciones</a:t>
            </a:r>
          </a:p>
        </p:txBody>
      </p:sp>
      <p:pic>
        <p:nvPicPr>
          <p:cNvPr id="4" name="" descr=""/>
          <p:cNvPicPr>
            <a:picLocks noGrp="1"/>
          </p:cNvPicPr>
          <p:nvPr>
            <p:ph/>
          </p:nvPr>
        </p:nvPicPr>
        <p:blipFill>
          <a:blip cstate="print" r:embed="rId2"/>
          <a:stretch>
            <a:fillRect/>
          </a:stretch>
        </p:blipFill>
        <p:spPr>
          <a:xfrm>
            <a:off x="548640" y="1234440"/>
            <a:ext cx="8046720" cy="329184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Códigos según nivel educativo</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Códigos con 5 o más menciones</a:t>
            </a:r>
          </a:p>
        </p:txBody>
      </p:sp>
      <p:pic>
        <p:nvPicPr>
          <p:cNvPr id="4" name="" descr=""/>
          <p:cNvPicPr>
            <a:picLocks noGrp="1"/>
          </p:cNvPicPr>
          <p:nvPr>
            <p:ph/>
          </p:nvPr>
        </p:nvPicPr>
        <p:blipFill>
          <a:blip cstate="print" r:embed="rId2"/>
          <a:stretch>
            <a:fillRect/>
          </a:stretch>
        </p:blipFill>
        <p:spPr>
          <a:xfrm>
            <a:off x="548640" y="1234440"/>
            <a:ext cx="8046720" cy="329184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Correspondencias: códigos y nivel educativo</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Dim 1: 60.4% de la inercia · Dim 2: 39.6%</a:t>
            </a:r>
          </a:p>
        </p:txBody>
      </p:sp>
      <p:pic>
        <p:nvPicPr>
          <p:cNvPr id="4" name="" descr=""/>
          <p:cNvPicPr>
            <a:picLocks noGrp="1"/>
          </p:cNvPicPr>
          <p:nvPr>
            <p:ph/>
          </p:nvPr>
        </p:nvPicPr>
        <p:blipFill>
          <a:blip cstate="print" r:embed="rId2"/>
          <a:stretch>
            <a:fillRect/>
          </a:stretch>
        </p:blipFill>
        <p:spPr>
          <a:xfrm>
            <a:off x="548640" y="1234440"/>
            <a:ext cx="8046720" cy="3291840"/>
          </a:xfrm>
          <a:prstGeom prst="rect">
            <a:avLst/>
          </a:prstGeom>
        </p:spPr>
      </p:pic>
      <p:sp>
        <p:nvSpPr>
          <p:cNvPr id="5" name=""/>
          <p:cNvSpPr>
            <a:spLocks noGrp="1"/>
          </p:cNvSpPr>
          <p:nvPr>
            <p:ph/>
          </p:nvPr>
        </p:nvSpPr>
        <p:spPr>
          <a:xfrm>
            <a:off x="548640" y="4617720"/>
            <a:ext cx="8046720" cy="320040"/>
          </a:xfrm>
        </p:spPr>
        <p:txBody>
          <a:bodyPr/>
          <a:lstStyle/>
          <a:p>
            <a:pPr algn="l" marL="0" marR="0">
              <a:lnSpc>
                <a:spcPct val="120000"/>
              </a:lnSpc>
              <a:spcBef>
                <a:spcPts val="0"/>
              </a:spcBef>
              <a:spcAft>
                <a:spcPts val="0"/>
              </a:spcAft>
              <a:buNone/>
            </a:pPr>
            <a:r>
              <a:rPr cap="none" sz="900" i="1" b="0" u="none">
                <a:solidFill>
                  <a:srgbClr val="5A6570">
                    <a:alpha val="100000"/>
                  </a:srgbClr>
                </a:solidFill>
                <a:latin typeface="Montserrat"/>
                <a:cs typeface="Montserrat"/>
                <a:ea typeface="Montserrat"/>
                <a:sym typeface="Montserrat"/>
              </a:rPr>
              <a:t>La proximidad indica asociación entre un código y una categoría, no causalidad.</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Citas por código</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Citas textuales, sin editar</a:t>
            </a:r>
          </a:p>
        </p:txBody>
      </p:sp>
      <p:sp>
        <p:nvSpPr>
          <p:cNvPr id="4" name=""/>
          <p:cNvSpPr>
            <a:spLocks noGrp="1"/>
          </p:cNvSpPr>
          <p:nvPr>
            <p:ph/>
          </p:nvPr>
        </p:nvSpPr>
        <p:spPr>
          <a:xfrm>
            <a:off x="548640" y="1234440"/>
            <a:ext cx="8046720" cy="3474720"/>
          </a:xfrm>
        </p:spPr>
        <p:txBody>
          <a:bodyPr/>
          <a:lstStyle/>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Ingresos salarios jubilaciones</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“Las jubilaciones pensiones y sueldos de personas estatales que al final no hacen nada” </a:t>
            </a:r>
            <a:r>
              <a:rPr cap="none" sz="1000" i="0" b="0" u="none">
                <a:solidFill>
                  <a:srgbClr val="5A6570">
                    <a:alpha val="100000"/>
                  </a:srgbClr>
                </a:solidFill>
                <a:latin typeface="Montserrat"/>
                <a:cs typeface="Montserrat"/>
                <a:ea typeface="Montserrat"/>
                <a:sym typeface="Montserrat"/>
              </a:rPr>
              <a:t>(Mujer, 25, Montevideo)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“La gran diferencia de estratos sociales sueldos muy bajos incapaces de mantener una vida digna jubilaciones muy bajas.” </a:t>
            </a:r>
            <a:r>
              <a:rPr cap="none" sz="1000" i="0" b="0" u="none">
                <a:solidFill>
                  <a:srgbClr val="5A6570">
                    <a:alpha val="100000"/>
                  </a:srgbClr>
                </a:solidFill>
                <a:latin typeface="Montserrat"/>
                <a:cs typeface="Montserrat"/>
                <a:ea typeface="Montserrat"/>
                <a:sym typeface="Montserrat"/>
              </a:rPr>
              <a:t>(Mujer, 59, Canelones)</a:t>
            </a:r>
          </a:p>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Distribucion de riqueza y poder</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“Yo creo que en Uruguay yo pienso que la desigualdad es el rico y el pobre.” </a:t>
            </a:r>
            <a:r>
              <a:rPr cap="none" sz="1000" i="0" b="0" u="none">
                <a:solidFill>
                  <a:srgbClr val="5A6570">
                    <a:alpha val="100000"/>
                  </a:srgbClr>
                </a:solidFill>
                <a:latin typeface="Montserrat"/>
                <a:cs typeface="Montserrat"/>
                <a:ea typeface="Montserrat"/>
                <a:sym typeface="Montserrat"/>
              </a:rPr>
              <a:t>(Mujer, 65, Montevideo)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“La desigualdad es rico y pobre y mediano, pero creo que eso se llega a ser. El rico, bueno, está, pero el pobre, ¿cómo te puedo decir? A veces no le gusta poco trabajar. Creo que el pobre que le guste trabajar, creo que sale adelante siempre y que consiga trabajo, por supuesto.” </a:t>
            </a:r>
            <a:r>
              <a:rPr cap="none" sz="1000" i="0" b="0" u="none">
                <a:solidFill>
                  <a:srgbClr val="5A6570">
                    <a:alpha val="100000"/>
                  </a:srgbClr>
                </a:solidFill>
                <a:latin typeface="Montserrat"/>
                <a:cs typeface="Montserrat"/>
                <a:ea typeface="Montserrat"/>
                <a:sym typeface="Montserrat"/>
              </a:rPr>
              <a:t>(Mujer, 61, Canelones)</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Citas por código</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Citas textuales, sin editar</a:t>
            </a:r>
          </a:p>
        </p:txBody>
      </p:sp>
      <p:sp>
        <p:nvSpPr>
          <p:cNvPr id="4" name=""/>
          <p:cNvSpPr>
            <a:spLocks noGrp="1"/>
          </p:cNvSpPr>
          <p:nvPr>
            <p:ph/>
          </p:nvPr>
        </p:nvSpPr>
        <p:spPr>
          <a:xfrm>
            <a:off x="548640" y="1234440"/>
            <a:ext cx="8046720" cy="3474720"/>
          </a:xfrm>
        </p:spPr>
        <p:txBody>
          <a:bodyPr/>
          <a:lstStyle/>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Acceso a la educacion</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“El acceso al estudio la desigualdad laboral para algunos sectores y la económica” </a:t>
            </a:r>
            <a:r>
              <a:rPr cap="none" sz="1000" i="0" b="0" u="none">
                <a:solidFill>
                  <a:srgbClr val="5A6570">
                    <a:alpha val="100000"/>
                  </a:srgbClr>
                </a:solidFill>
                <a:latin typeface="Montserrat"/>
                <a:cs typeface="Montserrat"/>
                <a:ea typeface="Montserrat"/>
                <a:sym typeface="Montserrat"/>
              </a:rPr>
              <a:t>(Mujer, 47, Montevideo)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“El acceso a una educación de calidad de personas en situación de discapacidad” </a:t>
            </a:r>
            <a:r>
              <a:rPr cap="none" sz="1000" i="0" b="0" u="none">
                <a:solidFill>
                  <a:srgbClr val="5A6570">
                    <a:alpha val="100000"/>
                  </a:srgbClr>
                </a:solidFill>
                <a:latin typeface="Montserrat"/>
                <a:cs typeface="Montserrat"/>
                <a:ea typeface="Montserrat"/>
                <a:sym typeface="Montserrat"/>
              </a:rPr>
              <a:t>(Mujer, 29, Interior)</a:t>
            </a:r>
          </a:p>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Territorial</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“Los barrios más marginales y vulnerables sin el acceso a condiciones dignas y con poca o nula protección social sobre todo en niños y adolescentes.” </a:t>
            </a:r>
            <a:r>
              <a:rPr cap="none" sz="1000" i="0" b="0" u="none">
                <a:solidFill>
                  <a:srgbClr val="5A6570">
                    <a:alpha val="100000"/>
                  </a:srgbClr>
                </a:solidFill>
                <a:latin typeface="Montserrat"/>
                <a:cs typeface="Montserrat"/>
                <a:ea typeface="Montserrat"/>
                <a:sym typeface="Montserrat"/>
              </a:rPr>
              <a:t>(Mujer, 35, Canelones)</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“En Uruguay me parecen desiguales las oportunidades que tienen las personas según dónde nacen o la situación económica de su familia. Por ejemplo el acceso a una buena educación una vivienda digna la salud y un trabajo bien remunerado. También veo diferencias entre Montevideo y el interior y entre quienes tienen recursos y quienes apenas llegan a fin de mes.” </a:t>
            </a:r>
            <a:r>
              <a:rPr cap="none" sz="1000" i="0" b="0" u="none">
                <a:solidFill>
                  <a:srgbClr val="5A6570">
                    <a:alpha val="100000"/>
                  </a:srgbClr>
                </a:solidFill>
                <a:latin typeface="Montserrat"/>
                <a:cs typeface="Montserrat"/>
                <a:ea typeface="Montserrat"/>
                <a:sym typeface="Montserrat"/>
              </a:rPr>
              <a:t>(Mujer, 39, Interior)</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Citas por código</a:t>
            </a:r>
          </a:p>
        </p:txBody>
      </p:sp>
      <p:sp>
        <p:nvSpPr>
          <p:cNvPr id="3" name=""/>
          <p:cNvSpPr>
            <a:spLocks noGrp="1"/>
          </p:cNvSpPr>
          <p:nvPr>
            <p:ph/>
          </p:nvPr>
        </p:nvSpPr>
        <p:spPr>
          <a:xfrm>
            <a:off x="457200" y="777240"/>
            <a:ext cx="8229600" cy="411480"/>
          </a:xfrm>
        </p:spPr>
        <p:txBody>
          <a:bodyPr/>
          <a:lstStyle/>
          <a:p>
            <a:pPr algn="l" marL="0" marR="0">
              <a:lnSpc>
                <a:spcPct val="120000"/>
              </a:lnSpc>
              <a:spcBef>
                <a:spcPts val="0"/>
              </a:spcBef>
              <a:spcAft>
                <a:spcPts val="0"/>
              </a:spcAft>
              <a:buNone/>
            </a:pPr>
            <a:r>
              <a:rPr cap="none" sz="1100" i="1" b="0" u="none">
                <a:solidFill>
                  <a:srgbClr val="5A6570">
                    <a:alpha val="100000"/>
                  </a:srgbClr>
                </a:solidFill>
                <a:latin typeface="Montserrat"/>
                <a:cs typeface="Montserrat"/>
                <a:ea typeface="Montserrat"/>
                <a:sym typeface="Montserrat"/>
              </a:rPr>
              <a:t>Citas textuales, sin editar</a:t>
            </a:r>
          </a:p>
        </p:txBody>
      </p:sp>
      <p:sp>
        <p:nvSpPr>
          <p:cNvPr id="4" name=""/>
          <p:cNvSpPr>
            <a:spLocks noGrp="1"/>
          </p:cNvSpPr>
          <p:nvPr>
            <p:ph/>
          </p:nvPr>
        </p:nvSpPr>
        <p:spPr>
          <a:xfrm>
            <a:off x="548640" y="1234440"/>
            <a:ext cx="8046720" cy="3474720"/>
          </a:xfrm>
        </p:spPr>
        <p:txBody>
          <a:bodyPr/>
          <a:lstStyle/>
          <a:p>
            <a:pPr algn="l" marL="0" marR="0">
              <a:lnSpc>
                <a:spcPct val="115000"/>
              </a:lnSpc>
              <a:spcBef>
                <a:spcPts val="0"/>
              </a:spcBef>
              <a:spcAft>
                <a:spcPts val="800"/>
              </a:spcAft>
              <a:buNone/>
            </a:pPr>
            <a:r>
              <a:rPr cap="none" sz="1100" i="0" b="1" u="none">
                <a:solidFill>
                  <a:srgbClr val="004A82">
                    <a:alpha val="100000"/>
                  </a:srgbClr>
                </a:solidFill>
                <a:latin typeface="Montserrat"/>
                <a:cs typeface="Montserrat"/>
                <a:ea typeface="Montserrat"/>
                <a:sym typeface="Montserrat"/>
              </a:rPr>
              <a:t>Empleo y mercado laboral</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“Hay diferencias en la calidad de la educación el acceso al empleo y los salarios según la zona o el contexto de cada persona. Además creo que el Estado muchas veces trata de solucionar esos problemas con más impuestos y regulaciones cuando sería más efectivo facilitar el crecimiento económico y la creación de empleo” </a:t>
            </a:r>
            <a:r>
              <a:rPr cap="none" sz="1000" i="0" b="0" u="none">
                <a:solidFill>
                  <a:srgbClr val="5A6570">
                    <a:alpha val="100000"/>
                  </a:srgbClr>
                </a:solidFill>
                <a:latin typeface="Montserrat"/>
                <a:cs typeface="Montserrat"/>
                <a:ea typeface="Montserrat"/>
                <a:sym typeface="Montserrat"/>
              </a:rPr>
              <a:t>(Mujer, 23, Montevideo)</a:t>
            </a:r>
          </a:p>
          <a:p>
            <a:pPr algn="l" marL="0" marR="0">
              <a:lnSpc>
                <a:spcPct val="115000"/>
              </a:lnSpc>
              <a:spcBef>
                <a:spcPts val="0"/>
              </a:spcBef>
              <a:spcAft>
                <a:spcPts val="800"/>
              </a:spcAft>
              <a:buNone/>
            </a:pPr>
            <a:r>
              <a:rPr cap="none" sz="1100" i="1" b="0" u="none">
                <a:solidFill>
                  <a:srgbClr val="262626">
                    <a:alpha val="100000"/>
                  </a:srgbClr>
                </a:solidFill>
                <a:latin typeface="Montserrat"/>
                <a:cs typeface="Montserrat"/>
                <a:ea typeface="Montserrat"/>
                <a:sym typeface="Montserrat"/>
              </a:rPr>
              <a:t>“La palabra me genera rechazo y me da la sensación de que con ella se trata a la gente como víctima y eso no me gusta Falta equidad de oportunidades para los jóvenes a ni el terciario por ejemplo Que tienen que dejar a sus familias y ellas se sofocan en cuentas para mantenerlos Muchos de ellos vuelven al interior donde tampoco hay trabajo Falta EQUIDAD” </a:t>
            </a:r>
            <a:r>
              <a:rPr cap="none" sz="1000" i="0" b="0" u="none">
                <a:solidFill>
                  <a:srgbClr val="5A6570">
                    <a:alpha val="100000"/>
                  </a:srgbClr>
                </a:solidFill>
                <a:latin typeface="Montserrat"/>
                <a:cs typeface="Montserrat"/>
                <a:ea typeface="Montserrat"/>
                <a:sym typeface="Montserrat"/>
              </a:rPr>
              <a:t>(Mujer, 57, Interior)</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457200"/>
          </a:xfrm>
        </p:spPr>
        <p:txBody>
          <a:bodyPr/>
          <a:lstStyle/>
          <a:p>
            <a:pPr algn="l" marL="0" marR="0">
              <a:lnSpc>
                <a:spcPct val="120000"/>
              </a:lnSpc>
              <a:spcBef>
                <a:spcPts val="0"/>
              </a:spcBef>
              <a:spcAft>
                <a:spcPts val="0"/>
              </a:spcAft>
              <a:buNone/>
            </a:pPr>
            <a:r>
              <a:rPr cap="none" sz="2000" i="0" b="1" u="none">
                <a:solidFill>
                  <a:srgbClr val="004A82">
                    <a:alpha val="100000"/>
                  </a:srgbClr>
                </a:solidFill>
                <a:latin typeface="Montserrat"/>
                <a:cs typeface="Montserrat"/>
                <a:ea typeface="Montserrat"/>
                <a:sym typeface="Montserrat"/>
              </a:rPr>
              <a:t>Nota metodológica</a:t>
            </a:r>
          </a:p>
        </p:txBody>
      </p:sp>
      <p:sp>
        <p:nvSpPr>
          <p:cNvPr id="3" name=""/>
          <p:cNvSpPr>
            <a:spLocks noGrp="1"/>
          </p:cNvSpPr>
          <p:nvPr>
            <p:ph/>
          </p:nvPr>
        </p:nvSpPr>
        <p:spPr>
          <a:xfrm>
            <a:off x="640080" y="1280160"/>
            <a:ext cx="7863840" cy="3291840"/>
          </a:xfrm>
        </p:spPr>
        <p:txBody>
          <a:bodyPr/>
          <a:lstStyle/>
          <a:p>
            <a:pPr algn="l" marL="0" marR="0">
              <a:lnSpc>
                <a:spcPct val="170000"/>
              </a:lnSpc>
              <a:spcBef>
                <a:spcPts val="0"/>
              </a:spcBef>
              <a:spcAft>
                <a:spcPts val="0"/>
              </a:spcAft>
              <a:buNone/>
            </a:pPr>
            <a:r>
              <a:rPr cap="none" sz="1200" i="0" b="0" u="none">
                <a:solidFill>
                  <a:srgbClr val="404040">
                    <a:alpha val="100000"/>
                  </a:srgbClr>
                </a:solidFill>
                <a:latin typeface="Montserrat"/>
                <a:cs typeface="Montserrat"/>
                <a:ea typeface="Montserrat"/>
                <a:sym typeface="Montserrat"/>
              </a:rPr>
              <a:t>Las respuestas de audio fueron transcritas automáticamente y las citas se reproducen sin editar.</a:t>
            </a:r>
          </a:p>
          <a:p>
            <a:pPr algn="l" marL="0" marR="0">
              <a:lnSpc>
                <a:spcPct val="170000"/>
              </a:lnSpc>
              <a:spcBef>
                <a:spcPts val="0"/>
              </a:spcBef>
              <a:spcAft>
                <a:spcPts val="0"/>
              </a:spcAft>
              <a:buNone/>
            </a:pPr>
            <a:r>
              <a:rPr cap="none" sz="1200" i="0" b="0" u="none">
                <a:solidFill>
                  <a:srgbClr val="404040">
                    <a:alpha val="100000"/>
                  </a:srgbClr>
                </a:solidFill>
                <a:latin typeface="Montserrat"/>
                <a:cs typeface="Montserrat"/>
                <a:ea typeface="Montserrat"/>
                <a:sym typeface="Montserrat"/>
              </a:rPr>
              <a:t>Las respuestas abiertas se codificaron contra un codebook definido por el equipo; cada respuesta puede recibir hasta tres códigos, ordenados por relevancia.</a:t>
            </a:r>
          </a:p>
          <a:p>
            <a:pPr algn="l" marL="0" marR="0">
              <a:lnSpc>
                <a:spcPct val="170000"/>
              </a:lnSpc>
              <a:spcBef>
                <a:spcPts val="0"/>
              </a:spcBef>
              <a:spcAft>
                <a:spcPts val="0"/>
              </a:spcAft>
              <a:buNone/>
            </a:pPr>
            <a:r>
              <a:rPr cap="none" sz="1200" i="0" b="0" u="none">
                <a:solidFill>
                  <a:srgbClr val="404040">
                    <a:alpha val="100000"/>
                  </a:srgbClr>
                </a:solidFill>
                <a:latin typeface="Montserrat"/>
                <a:cs typeface="Montserrat"/>
                <a:ea typeface="Montserrat"/>
                <a:sym typeface="Montserrat"/>
              </a:rPr>
              <a:t>Una muestra del 20% de la codificación fue revisada manualmente.</a:t>
            </a:r>
          </a:p>
          <a:p>
            <a:pPr algn="l" marL="0" marR="0">
              <a:lnSpc>
                <a:spcPct val="170000"/>
              </a:lnSpc>
              <a:spcBef>
                <a:spcPts val="0"/>
              </a:spcBef>
              <a:spcAft>
                <a:spcPts val="0"/>
              </a:spcAft>
              <a:buNone/>
            </a:pPr>
            <a:r>
              <a:rPr cap="none" sz="1200" i="0" b="0" u="none">
                <a:solidFill>
                  <a:srgbClr val="404040">
                    <a:alpha val="100000"/>
                  </a:srgbClr>
                </a:solidFill>
                <a:latin typeface="Montserrat"/>
                <a:cs typeface="Montserrat"/>
                <a:ea typeface="Montserrat"/>
                <a:sym typeface="Montserrat"/>
              </a:rPr>
              <a:t>Los gráficos muestran frecuencias absolutas (N), no porcentajes.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mitype="http://purl.org/dc/dcmitype/" xmlns:dcterms="http://purl.org/dc/terms/" xmlns:xsi="http://www.w3.org/2001/XMLSchema-instance">
  <dc:title/>
  <dc:subject/>
  <dc:creator/>
  <cp:keywords/>
  <dc:description>generated using python-pptx</dc:description>
  <cp:lastModifiedBy/>
  <cp:revision>1</cp:revision>
  <dcterms:created xsi:type="dcterms:W3CDTF">2013-01-27T09:14:16Z</dcterms:created>
  <dcterms:modified xsi:type="dcterms:W3CDTF">2026-08-11T15:29:30Z</dcterms:modified>
  <cp:category/>
</cp:coreProperties>
</file>